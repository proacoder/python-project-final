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Lst>
  <p:sldSz cx="18288000" cy="10287000"/>
  <p:notesSz cx="6858000" cy="9144000"/>
  <p:embeddedFontLst>
    <p:embeddedFont>
      <p:font typeface="Anton" pitchFamily="2" charset="0"/>
      <p:regular r:id="rId9"/>
    </p:embeddedFont>
    <p:embeddedFont>
      <p:font typeface="Canva Sans Bold" panose="020B0604020202020204" charset="0"/>
      <p:regular r:id="rId10"/>
    </p:embeddedFont>
    <p:embeddedFont>
      <p:font typeface="Inter" panose="020B0604020202020204" charset="0"/>
      <p:regular r:id="rId11"/>
    </p:embeddedFont>
    <p:embeddedFont>
      <p:font typeface="Inter Bold" panose="020B0604020202020204" charset="0"/>
      <p:regular r:id="rId12"/>
    </p:embeddedFont>
    <p:embeddedFont>
      <p:font typeface="Playfair Display Bold" panose="020B0604020202020204" charset="0"/>
      <p:regular r:id="rId13"/>
    </p:embeddedFont>
    <p:embeddedFont>
      <p:font typeface="Poppins" panose="00000500000000000000" pitchFamily="2" charset="0"/>
      <p:regular r:id="rId14"/>
      <p:bold r:id="rId15"/>
      <p:italic r:id="rId16"/>
      <p:boldItalic r:id="rId17"/>
    </p:embeddedFont>
    <p:embeddedFont>
      <p:font typeface="Poppins Bold" panose="00000800000000000000" charset="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4" d="100"/>
          <a:sy n="54" d="100"/>
        </p:scale>
        <p:origin x="624" y="17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5.fntdata"/><Relationship Id="rId18"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font" Target="fonts/font4.fntdata"/><Relationship Id="rId17"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font" Target="fonts/font8.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font" Target="fonts/font7.fntdata"/><Relationship Id="rId10" Type="http://schemas.openxmlformats.org/officeDocument/2006/relationships/font" Target="fonts/font2.fntdata"/><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font" Target="fonts/font6.fntdata"/><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slides/_rels/slide3.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8.svg"/><Relationship Id="rId7" Type="http://schemas.openxmlformats.org/officeDocument/2006/relationships/image" Target="../media/image13.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6.sv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6.svg"/><Relationship Id="rId7" Type="http://schemas.openxmlformats.org/officeDocument/2006/relationships/image" Target="../media/image13.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8.sv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8.svg"/><Relationship Id="rId7" Type="http://schemas.openxmlformats.org/officeDocument/2006/relationships/image" Target="../media/image15.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6.sv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6.sv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8.svg"/><Relationship Id="rId7" Type="http://schemas.openxmlformats.org/officeDocument/2006/relationships/image" Target="../media/image18.sv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6.sv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grpSp>
        <p:nvGrpSpPr>
          <p:cNvPr id="3" name="Group 3"/>
          <p:cNvGrpSpPr/>
          <p:nvPr/>
        </p:nvGrpSpPr>
        <p:grpSpPr>
          <a:xfrm>
            <a:off x="5663860" y="1338703"/>
            <a:ext cx="6960279" cy="5284746"/>
            <a:chOff x="0" y="0"/>
            <a:chExt cx="9280372" cy="7046328"/>
          </a:xfrm>
        </p:grpSpPr>
        <p:sp>
          <p:nvSpPr>
            <p:cNvPr id="4" name="Freeform 4"/>
            <p:cNvSpPr/>
            <p:nvPr/>
          </p:nvSpPr>
          <p:spPr>
            <a:xfrm>
              <a:off x="567443" y="0"/>
              <a:ext cx="8145487" cy="5841061"/>
            </a:xfrm>
            <a:custGeom>
              <a:avLst/>
              <a:gdLst/>
              <a:ahLst/>
              <a:cxnLst/>
              <a:rect l="l" t="t" r="r" b="b"/>
              <a:pathLst>
                <a:path w="8145487" h="5841061">
                  <a:moveTo>
                    <a:pt x="0" y="0"/>
                  </a:moveTo>
                  <a:lnTo>
                    <a:pt x="8145487" y="0"/>
                  </a:lnTo>
                  <a:lnTo>
                    <a:pt x="8145487" y="5841061"/>
                  </a:lnTo>
                  <a:lnTo>
                    <a:pt x="0" y="5841061"/>
                  </a:lnTo>
                  <a:lnTo>
                    <a:pt x="0" y="0"/>
                  </a:lnTo>
                  <a:close/>
                </a:path>
              </a:pathLst>
            </a:custGeom>
            <a:blipFill>
              <a:blip r:embed="rId3"/>
              <a:stretch>
                <a:fillRect t="-15546"/>
              </a:stretch>
            </a:blipFill>
          </p:spPr>
        </p:sp>
        <p:sp>
          <p:nvSpPr>
            <p:cNvPr id="5" name="TextBox 5"/>
            <p:cNvSpPr txBox="1"/>
            <p:nvPr/>
          </p:nvSpPr>
          <p:spPr>
            <a:xfrm>
              <a:off x="0" y="5041599"/>
              <a:ext cx="9280372" cy="1601299"/>
            </a:xfrm>
            <a:prstGeom prst="rect">
              <a:avLst/>
            </a:prstGeom>
          </p:spPr>
          <p:txBody>
            <a:bodyPr lIns="0" tIns="0" rIns="0" bIns="0" rtlCol="0" anchor="t">
              <a:spAutoFit/>
            </a:bodyPr>
            <a:lstStyle/>
            <a:p>
              <a:pPr algn="ctr">
                <a:lnSpc>
                  <a:spcPts val="9702"/>
                </a:lnSpc>
              </a:pPr>
              <a:r>
                <a:rPr lang="en-US" sz="6930" b="1">
                  <a:solidFill>
                    <a:srgbClr val="1800AD"/>
                  </a:solidFill>
                  <a:latin typeface="Poppins Bold"/>
                  <a:ea typeface="Poppins Bold"/>
                  <a:cs typeface="Poppins Bold"/>
                  <a:sym typeface="Poppins Bold"/>
                </a:rPr>
                <a:t>SPECTRUM </a:t>
              </a:r>
            </a:p>
          </p:txBody>
        </p:sp>
        <p:sp>
          <p:nvSpPr>
            <p:cNvPr id="6" name="AutoShape 6"/>
            <p:cNvSpPr/>
            <p:nvPr/>
          </p:nvSpPr>
          <p:spPr>
            <a:xfrm>
              <a:off x="2162680" y="6784227"/>
              <a:ext cx="1715723" cy="0"/>
            </a:xfrm>
            <a:prstGeom prst="line">
              <a:avLst/>
            </a:prstGeom>
            <a:ln w="67467" cap="flat">
              <a:solidFill>
                <a:srgbClr val="66C5EB"/>
              </a:solidFill>
              <a:prstDash val="solid"/>
              <a:headEnd type="none" w="sm" len="sm"/>
              <a:tailEnd type="none" w="sm" len="sm"/>
            </a:ln>
          </p:spPr>
        </p:sp>
        <p:sp>
          <p:nvSpPr>
            <p:cNvPr id="7" name="TextBox 7"/>
            <p:cNvSpPr txBox="1"/>
            <p:nvPr/>
          </p:nvSpPr>
          <p:spPr>
            <a:xfrm>
              <a:off x="3878403" y="6455452"/>
              <a:ext cx="1523566" cy="590875"/>
            </a:xfrm>
            <a:prstGeom prst="rect">
              <a:avLst/>
            </a:prstGeom>
          </p:spPr>
          <p:txBody>
            <a:bodyPr lIns="0" tIns="0" rIns="0" bIns="0" rtlCol="0" anchor="t">
              <a:spAutoFit/>
            </a:bodyPr>
            <a:lstStyle/>
            <a:p>
              <a:pPr algn="ctr">
                <a:lnSpc>
                  <a:spcPts val="3629"/>
                </a:lnSpc>
              </a:pPr>
              <a:r>
                <a:rPr lang="en-US" sz="2592" b="1">
                  <a:solidFill>
                    <a:srgbClr val="1800AD"/>
                  </a:solidFill>
                  <a:latin typeface="Poppins Bold"/>
                  <a:ea typeface="Poppins Bold"/>
                  <a:cs typeface="Poppins Bold"/>
                  <a:sym typeface="Poppins Bold"/>
                </a:rPr>
                <a:t>SBMP</a:t>
              </a:r>
            </a:p>
          </p:txBody>
        </p:sp>
        <p:sp>
          <p:nvSpPr>
            <p:cNvPr id="8" name="AutoShape 8"/>
            <p:cNvSpPr/>
            <p:nvPr/>
          </p:nvSpPr>
          <p:spPr>
            <a:xfrm>
              <a:off x="5401969" y="6784227"/>
              <a:ext cx="1715723" cy="0"/>
            </a:xfrm>
            <a:prstGeom prst="line">
              <a:avLst/>
            </a:prstGeom>
            <a:ln w="67467" cap="flat">
              <a:solidFill>
                <a:srgbClr val="66C5EB"/>
              </a:solidFill>
              <a:prstDash val="solid"/>
              <a:headEnd type="none" w="sm" len="sm"/>
              <a:tailEnd type="none" w="sm" len="sm"/>
            </a:ln>
          </p:spPr>
        </p:sp>
      </p:grpSp>
      <p:sp>
        <p:nvSpPr>
          <p:cNvPr id="9" name="AutoShape 9"/>
          <p:cNvSpPr/>
          <p:nvPr/>
        </p:nvSpPr>
        <p:spPr>
          <a:xfrm>
            <a:off x="5897880" y="5143500"/>
            <a:ext cx="6492240" cy="0"/>
          </a:xfrm>
          <a:prstGeom prst="line">
            <a:avLst/>
          </a:prstGeom>
          <a:ln w="38100" cap="flat">
            <a:solidFill>
              <a:srgbClr val="66C5EB"/>
            </a:solidFill>
            <a:prstDash val="solid"/>
            <a:headEnd type="none" w="sm" len="sm"/>
            <a:tailEnd type="none" w="sm" len="sm"/>
          </a:ln>
        </p:spPr>
      </p:sp>
      <p:sp>
        <p:nvSpPr>
          <p:cNvPr id="10" name="Freeform 10"/>
          <p:cNvSpPr/>
          <p:nvPr/>
        </p:nvSpPr>
        <p:spPr>
          <a:xfrm>
            <a:off x="-1491710" y="1702487"/>
            <a:ext cx="4564770" cy="5393432"/>
          </a:xfrm>
          <a:custGeom>
            <a:avLst/>
            <a:gdLst/>
            <a:ahLst/>
            <a:cxnLst/>
            <a:rect l="l" t="t" r="r" b="b"/>
            <a:pathLst>
              <a:path w="4564770" h="5393432">
                <a:moveTo>
                  <a:pt x="0" y="0"/>
                </a:moveTo>
                <a:lnTo>
                  <a:pt x="4564770" y="0"/>
                </a:lnTo>
                <a:lnTo>
                  <a:pt x="4564770" y="5393432"/>
                </a:lnTo>
                <a:lnTo>
                  <a:pt x="0" y="5393432"/>
                </a:lnTo>
                <a:lnTo>
                  <a:pt x="0" y="0"/>
                </a:lnTo>
                <a:close/>
              </a:path>
            </a:pathLst>
          </a:custGeom>
          <a:blipFill>
            <a:blip r:embed="rId4"/>
            <a:stretch>
              <a:fillRect r="-54673" b="-52585"/>
            </a:stretch>
          </a:blipFill>
        </p:spPr>
      </p:sp>
      <p:sp>
        <p:nvSpPr>
          <p:cNvPr id="11" name="TextBox 11"/>
          <p:cNvSpPr txBox="1"/>
          <p:nvPr/>
        </p:nvSpPr>
        <p:spPr>
          <a:xfrm>
            <a:off x="-1224975" y="6251974"/>
            <a:ext cx="21598412" cy="3328151"/>
          </a:xfrm>
          <a:prstGeom prst="rect">
            <a:avLst/>
          </a:prstGeom>
        </p:spPr>
        <p:txBody>
          <a:bodyPr lIns="0" tIns="0" rIns="0" bIns="0" rtlCol="0" anchor="t">
            <a:spAutoFit/>
          </a:bodyPr>
          <a:lstStyle/>
          <a:p>
            <a:pPr marL="0" lvl="0" indent="0" algn="ctr">
              <a:lnSpc>
                <a:spcPts val="27291"/>
              </a:lnSpc>
              <a:spcBef>
                <a:spcPct val="0"/>
              </a:spcBef>
            </a:pPr>
            <a:r>
              <a:rPr lang="en-US" sz="19493" spc="1442">
                <a:solidFill>
                  <a:srgbClr val="1800AD"/>
                </a:solidFill>
                <a:latin typeface="Anton"/>
                <a:ea typeface="Anton"/>
                <a:cs typeface="Anton"/>
                <a:sym typeface="Anton"/>
              </a:rPr>
              <a:t>HACKATHON</a:t>
            </a:r>
          </a:p>
        </p:txBody>
      </p:sp>
      <p:sp>
        <p:nvSpPr>
          <p:cNvPr id="12" name="TextBox 12"/>
          <p:cNvSpPr txBox="1"/>
          <p:nvPr/>
        </p:nvSpPr>
        <p:spPr>
          <a:xfrm>
            <a:off x="3891334" y="306094"/>
            <a:ext cx="10505333" cy="722606"/>
          </a:xfrm>
          <a:prstGeom prst="rect">
            <a:avLst/>
          </a:prstGeom>
        </p:spPr>
        <p:txBody>
          <a:bodyPr lIns="0" tIns="0" rIns="0" bIns="0" rtlCol="0" anchor="t">
            <a:spAutoFit/>
          </a:bodyPr>
          <a:lstStyle/>
          <a:p>
            <a:pPr algn="ctr">
              <a:lnSpc>
                <a:spcPts val="2866"/>
              </a:lnSpc>
            </a:pPr>
            <a:r>
              <a:rPr lang="en-US" sz="2047" b="1">
                <a:solidFill>
                  <a:srgbClr val="191B19"/>
                </a:solidFill>
                <a:latin typeface="Inter Bold"/>
                <a:ea typeface="Inter Bold"/>
                <a:cs typeface="Inter Bold"/>
                <a:sym typeface="Inter Bold"/>
              </a:rPr>
              <a:t> SHRI VILE PARLE KELAVANI MANDAL’S</a:t>
            </a:r>
          </a:p>
          <a:p>
            <a:pPr algn="ctr">
              <a:lnSpc>
                <a:spcPts val="2866"/>
              </a:lnSpc>
              <a:spcBef>
                <a:spcPct val="0"/>
              </a:spcBef>
            </a:pPr>
            <a:r>
              <a:rPr lang="en-US" sz="2047" b="1">
                <a:solidFill>
                  <a:srgbClr val="191B19"/>
                </a:solidFill>
                <a:latin typeface="Inter Bold"/>
                <a:ea typeface="Inter Bold"/>
                <a:cs typeface="Inter Bold"/>
                <a:sym typeface="Inter Bold"/>
              </a:rPr>
              <a:t> SHRI BHAGUBHAI MAFATLAL POLYTECHNIC  AND COLLEGE OF ENGINEERING</a:t>
            </a:r>
            <a:r>
              <a:rPr lang="en-US" sz="2047">
                <a:solidFill>
                  <a:srgbClr val="191B19"/>
                </a:solidFill>
                <a:latin typeface="Inter"/>
                <a:ea typeface="Inter"/>
                <a:cs typeface="Inter"/>
                <a:sym typeface="Inter"/>
              </a:rPr>
              <a:t> </a:t>
            </a:r>
          </a:p>
        </p:txBody>
      </p:sp>
      <p:sp>
        <p:nvSpPr>
          <p:cNvPr id="13" name="Freeform 13"/>
          <p:cNvSpPr/>
          <p:nvPr/>
        </p:nvSpPr>
        <p:spPr>
          <a:xfrm flipH="1">
            <a:off x="14976915" y="1028700"/>
            <a:ext cx="4564770" cy="5393432"/>
          </a:xfrm>
          <a:custGeom>
            <a:avLst/>
            <a:gdLst/>
            <a:ahLst/>
            <a:cxnLst/>
            <a:rect l="l" t="t" r="r" b="b"/>
            <a:pathLst>
              <a:path w="4564770" h="5393432">
                <a:moveTo>
                  <a:pt x="4564770" y="0"/>
                </a:moveTo>
                <a:lnTo>
                  <a:pt x="0" y="0"/>
                </a:lnTo>
                <a:lnTo>
                  <a:pt x="0" y="5393432"/>
                </a:lnTo>
                <a:lnTo>
                  <a:pt x="4564770" y="5393432"/>
                </a:lnTo>
                <a:lnTo>
                  <a:pt x="4564770" y="0"/>
                </a:lnTo>
                <a:close/>
              </a:path>
            </a:pathLst>
          </a:custGeom>
          <a:blipFill>
            <a:blip r:embed="rId4"/>
            <a:stretch>
              <a:fillRect r="-54673" b="-52585"/>
            </a:stretch>
          </a:blip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032893" y="192359"/>
            <a:ext cx="1836166" cy="2135184"/>
            <a:chOff x="0" y="0"/>
            <a:chExt cx="2448222" cy="2846912"/>
          </a:xfrm>
        </p:grpSpPr>
        <p:sp>
          <p:nvSpPr>
            <p:cNvPr id="3" name="Freeform 3"/>
            <p:cNvSpPr/>
            <p:nvPr/>
          </p:nvSpPr>
          <p:spPr>
            <a:xfrm>
              <a:off x="0" y="0"/>
              <a:ext cx="2448222" cy="2130795"/>
            </a:xfrm>
            <a:custGeom>
              <a:avLst/>
              <a:gdLst/>
              <a:ahLst/>
              <a:cxnLst/>
              <a:rect l="l" t="t" r="r" b="b"/>
              <a:pathLst>
                <a:path w="2448222" h="2130795">
                  <a:moveTo>
                    <a:pt x="0" y="0"/>
                  </a:moveTo>
                  <a:lnTo>
                    <a:pt x="2448222" y="0"/>
                  </a:lnTo>
                  <a:lnTo>
                    <a:pt x="2448222" y="2130795"/>
                  </a:lnTo>
                  <a:lnTo>
                    <a:pt x="0" y="2130795"/>
                  </a:lnTo>
                  <a:lnTo>
                    <a:pt x="0" y="0"/>
                  </a:lnTo>
                  <a:close/>
                </a:path>
              </a:pathLst>
            </a:custGeom>
            <a:blipFill>
              <a:blip r:embed="rId2"/>
              <a:stretch>
                <a:fillRect l="-10685" t="-15546" r="-10685"/>
              </a:stretch>
            </a:blipFill>
          </p:spPr>
        </p:sp>
        <p:sp>
          <p:nvSpPr>
            <p:cNvPr id="4" name="TextBox 4"/>
            <p:cNvSpPr txBox="1"/>
            <p:nvPr/>
          </p:nvSpPr>
          <p:spPr>
            <a:xfrm>
              <a:off x="0" y="1597864"/>
              <a:ext cx="2448222" cy="1249048"/>
            </a:xfrm>
            <a:prstGeom prst="rect">
              <a:avLst/>
            </a:prstGeom>
          </p:spPr>
          <p:txBody>
            <a:bodyPr lIns="0" tIns="0" rIns="0" bIns="0" rtlCol="0" anchor="t">
              <a:spAutoFit/>
            </a:bodyPr>
            <a:lstStyle/>
            <a:p>
              <a:pPr algn="ctr">
                <a:lnSpc>
                  <a:spcPts val="7559"/>
                </a:lnSpc>
              </a:pPr>
              <a:endParaRPr/>
            </a:p>
          </p:txBody>
        </p:sp>
      </p:grpSp>
      <p:sp>
        <p:nvSpPr>
          <p:cNvPr id="5" name="Freeform 5"/>
          <p:cNvSpPr/>
          <p:nvPr/>
        </p:nvSpPr>
        <p:spPr>
          <a:xfrm rot="855762">
            <a:off x="10048634" y="5060966"/>
            <a:ext cx="10491714" cy="10973739"/>
          </a:xfrm>
          <a:custGeom>
            <a:avLst/>
            <a:gdLst/>
            <a:ahLst/>
            <a:cxnLst/>
            <a:rect l="l" t="t" r="r" b="b"/>
            <a:pathLst>
              <a:path w="10491714" h="10973739">
                <a:moveTo>
                  <a:pt x="0" y="0"/>
                </a:moveTo>
                <a:lnTo>
                  <a:pt x="10491714" y="0"/>
                </a:lnTo>
                <a:lnTo>
                  <a:pt x="10491714" y="10973738"/>
                </a:lnTo>
                <a:lnTo>
                  <a:pt x="0" y="1097373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Freeform 6"/>
          <p:cNvSpPr/>
          <p:nvPr/>
        </p:nvSpPr>
        <p:spPr>
          <a:xfrm>
            <a:off x="-915397" y="6215366"/>
            <a:ext cx="1944097" cy="3042934"/>
          </a:xfrm>
          <a:custGeom>
            <a:avLst/>
            <a:gdLst/>
            <a:ahLst/>
            <a:cxnLst/>
            <a:rect l="l" t="t" r="r" b="b"/>
            <a:pathLst>
              <a:path w="1944097" h="3042934">
                <a:moveTo>
                  <a:pt x="0" y="0"/>
                </a:moveTo>
                <a:lnTo>
                  <a:pt x="1944097" y="0"/>
                </a:lnTo>
                <a:lnTo>
                  <a:pt x="1944097" y="3042934"/>
                </a:lnTo>
                <a:lnTo>
                  <a:pt x="0" y="304293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7" name="Freeform 7"/>
          <p:cNvSpPr/>
          <p:nvPr/>
        </p:nvSpPr>
        <p:spPr>
          <a:xfrm>
            <a:off x="-2116628" y="-1485310"/>
            <a:ext cx="3864530" cy="4114800"/>
          </a:xfrm>
          <a:custGeom>
            <a:avLst/>
            <a:gdLst/>
            <a:ahLst/>
            <a:cxnLst/>
            <a:rect l="l" t="t" r="r" b="b"/>
            <a:pathLst>
              <a:path w="3864530" h="4114800">
                <a:moveTo>
                  <a:pt x="0" y="0"/>
                </a:moveTo>
                <a:lnTo>
                  <a:pt x="3864530" y="0"/>
                </a:lnTo>
                <a:lnTo>
                  <a:pt x="3864530" y="4114800"/>
                </a:lnTo>
                <a:lnTo>
                  <a:pt x="0" y="4114800"/>
                </a:lnTo>
                <a:lnTo>
                  <a:pt x="0" y="0"/>
                </a:lnTo>
                <a:close/>
              </a:path>
            </a:pathLst>
          </a:custGeom>
          <a:blipFill>
            <a:blip r:embed="rId7">
              <a:alphaModFix amt="30000"/>
              <a:extLst>
                <a:ext uri="{96DAC541-7B7A-43D3-8B79-37D633B846F1}">
                  <asvg:svgBlip xmlns:asvg="http://schemas.microsoft.com/office/drawing/2016/SVG/main" r:embed="rId8"/>
                </a:ext>
              </a:extLst>
            </a:blip>
            <a:stretch>
              <a:fillRect/>
            </a:stretch>
          </a:blipFill>
        </p:spPr>
      </p:sp>
      <p:sp>
        <p:nvSpPr>
          <p:cNvPr id="8" name="Freeform 8"/>
          <p:cNvSpPr/>
          <p:nvPr/>
        </p:nvSpPr>
        <p:spPr>
          <a:xfrm>
            <a:off x="2280739" y="6903537"/>
            <a:ext cx="13716997" cy="6060419"/>
          </a:xfrm>
          <a:custGeom>
            <a:avLst/>
            <a:gdLst/>
            <a:ahLst/>
            <a:cxnLst/>
            <a:rect l="l" t="t" r="r" b="b"/>
            <a:pathLst>
              <a:path w="13716997" h="6060419">
                <a:moveTo>
                  <a:pt x="0" y="0"/>
                </a:moveTo>
                <a:lnTo>
                  <a:pt x="13716997" y="0"/>
                </a:lnTo>
                <a:lnTo>
                  <a:pt x="13716997" y="6060419"/>
                </a:lnTo>
                <a:lnTo>
                  <a:pt x="0" y="6060419"/>
                </a:lnTo>
                <a:lnTo>
                  <a:pt x="0" y="0"/>
                </a:lnTo>
                <a:close/>
              </a:path>
            </a:pathLst>
          </a:custGeom>
          <a:blipFill>
            <a:blip r:embed="rId9">
              <a:alphaModFix amt="31999"/>
              <a:extLst>
                <a:ext uri="{96DAC541-7B7A-43D3-8B79-37D633B846F1}">
                  <asvg:svgBlip xmlns:asvg="http://schemas.microsoft.com/office/drawing/2016/SVG/main" r:embed="rId10"/>
                </a:ext>
              </a:extLst>
            </a:blip>
            <a:stretch>
              <a:fillRect/>
            </a:stretch>
          </a:blipFill>
        </p:spPr>
      </p:sp>
      <p:sp>
        <p:nvSpPr>
          <p:cNvPr id="9" name="TextBox 9"/>
          <p:cNvSpPr txBox="1"/>
          <p:nvPr/>
        </p:nvSpPr>
        <p:spPr>
          <a:xfrm>
            <a:off x="9139238" y="4274503"/>
            <a:ext cx="9525" cy="1566544"/>
          </a:xfrm>
          <a:prstGeom prst="rect">
            <a:avLst/>
          </a:prstGeom>
        </p:spPr>
        <p:txBody>
          <a:bodyPr lIns="0" tIns="0" rIns="0" bIns="0" rtlCol="0" anchor="t">
            <a:spAutoFit/>
          </a:bodyPr>
          <a:lstStyle/>
          <a:p>
            <a:pPr algn="ctr">
              <a:lnSpc>
                <a:spcPts val="12880"/>
              </a:lnSpc>
            </a:pPr>
            <a:endParaRPr/>
          </a:p>
        </p:txBody>
      </p:sp>
      <p:sp>
        <p:nvSpPr>
          <p:cNvPr id="10" name="TextBox 10"/>
          <p:cNvSpPr txBox="1"/>
          <p:nvPr/>
        </p:nvSpPr>
        <p:spPr>
          <a:xfrm>
            <a:off x="1310265" y="-1022181"/>
            <a:ext cx="6663347" cy="5334794"/>
          </a:xfrm>
          <a:prstGeom prst="rect">
            <a:avLst/>
          </a:prstGeom>
        </p:spPr>
        <p:txBody>
          <a:bodyPr lIns="0" tIns="0" rIns="0" bIns="0" rtlCol="0" anchor="t">
            <a:spAutoFit/>
          </a:bodyPr>
          <a:lstStyle/>
          <a:p>
            <a:pPr algn="ctr">
              <a:lnSpc>
                <a:spcPts val="5217"/>
              </a:lnSpc>
            </a:pPr>
            <a:endParaRPr lang="en-US" sz="4700" b="1" dirty="0">
              <a:solidFill>
                <a:srgbClr val="1800AD"/>
              </a:solidFill>
              <a:latin typeface="Playfair Display Bold"/>
              <a:ea typeface="Playfair Display Bold"/>
              <a:cs typeface="Playfair Display Bold"/>
              <a:sym typeface="Playfair Display Bold"/>
            </a:endParaRPr>
          </a:p>
          <a:p>
            <a:pPr algn="ctr">
              <a:lnSpc>
                <a:spcPts val="5217"/>
              </a:lnSpc>
            </a:pPr>
            <a:endParaRPr lang="en-US" sz="4700" b="1" dirty="0">
              <a:solidFill>
                <a:srgbClr val="1800AD"/>
              </a:solidFill>
              <a:latin typeface="Playfair Display Bold"/>
              <a:ea typeface="Playfair Display Bold"/>
              <a:cs typeface="Playfair Display Bold"/>
              <a:sym typeface="Playfair Display Bold"/>
            </a:endParaRPr>
          </a:p>
          <a:p>
            <a:pPr algn="ctr">
              <a:lnSpc>
                <a:spcPts val="5217"/>
              </a:lnSpc>
            </a:pPr>
            <a:endParaRPr lang="en-US" sz="4700" b="1" dirty="0">
              <a:solidFill>
                <a:srgbClr val="1800AD"/>
              </a:solidFill>
              <a:latin typeface="Playfair Display Bold"/>
              <a:ea typeface="Playfair Display Bold"/>
              <a:cs typeface="Playfair Display Bold"/>
              <a:sym typeface="Playfair Display Bold"/>
            </a:endParaRPr>
          </a:p>
          <a:p>
            <a:pPr algn="ctr">
              <a:lnSpc>
                <a:spcPts val="5217"/>
              </a:lnSpc>
            </a:pPr>
            <a:endParaRPr lang="en-US" sz="4700" b="1" dirty="0">
              <a:solidFill>
                <a:srgbClr val="1800AD"/>
              </a:solidFill>
              <a:latin typeface="Playfair Display Bold"/>
              <a:ea typeface="Playfair Display Bold"/>
              <a:cs typeface="Playfair Display Bold"/>
              <a:sym typeface="Playfair Display Bold"/>
            </a:endParaRPr>
          </a:p>
          <a:p>
            <a:pPr algn="ctr">
              <a:lnSpc>
                <a:spcPts val="5217"/>
              </a:lnSpc>
            </a:pPr>
            <a:endParaRPr lang="en-US" sz="4700" b="1" dirty="0">
              <a:solidFill>
                <a:srgbClr val="1800AD"/>
              </a:solidFill>
              <a:latin typeface="Playfair Display Bold"/>
              <a:ea typeface="Playfair Display Bold"/>
              <a:cs typeface="Playfair Display Bold"/>
              <a:sym typeface="Playfair Display Bold"/>
            </a:endParaRPr>
          </a:p>
          <a:p>
            <a:pPr algn="ctr">
              <a:lnSpc>
                <a:spcPts val="5217"/>
              </a:lnSpc>
            </a:pPr>
            <a:endParaRPr lang="en-US" sz="4700" b="1" dirty="0">
              <a:solidFill>
                <a:srgbClr val="1800AD"/>
              </a:solidFill>
              <a:latin typeface="Playfair Display Bold"/>
              <a:ea typeface="Playfair Display Bold"/>
              <a:cs typeface="Playfair Display Bold"/>
              <a:sym typeface="Playfair Display Bold"/>
            </a:endParaRPr>
          </a:p>
          <a:p>
            <a:pPr algn="ctr">
              <a:lnSpc>
                <a:spcPts val="5217"/>
              </a:lnSpc>
            </a:pPr>
            <a:endParaRPr lang="en-US" sz="4700" b="1" dirty="0">
              <a:solidFill>
                <a:srgbClr val="1800AD"/>
              </a:solidFill>
              <a:latin typeface="Playfair Display Bold"/>
              <a:ea typeface="Playfair Display Bold"/>
              <a:cs typeface="Playfair Display Bold"/>
              <a:sym typeface="Playfair Display Bold"/>
            </a:endParaRPr>
          </a:p>
          <a:p>
            <a:pPr algn="ctr">
              <a:lnSpc>
                <a:spcPts val="5217"/>
              </a:lnSpc>
            </a:pPr>
            <a:endParaRPr lang="en-US" sz="4700" b="1" dirty="0">
              <a:solidFill>
                <a:srgbClr val="1800AD"/>
              </a:solidFill>
              <a:latin typeface="Playfair Display Bold"/>
              <a:ea typeface="Playfair Display Bold"/>
              <a:cs typeface="Playfair Display Bold"/>
              <a:sym typeface="Playfair Display Bold"/>
            </a:endParaRPr>
          </a:p>
        </p:txBody>
      </p:sp>
      <p:sp>
        <p:nvSpPr>
          <p:cNvPr id="11" name="TextBox 11"/>
          <p:cNvSpPr txBox="1"/>
          <p:nvPr/>
        </p:nvSpPr>
        <p:spPr>
          <a:xfrm>
            <a:off x="1310265" y="991407"/>
            <a:ext cx="12634336" cy="9042732"/>
          </a:xfrm>
          <a:prstGeom prst="rect">
            <a:avLst/>
          </a:prstGeom>
          <a:ln>
            <a:solidFill>
              <a:srgbClr val="0070C0"/>
            </a:solidFill>
          </a:ln>
        </p:spPr>
        <p:style>
          <a:lnRef idx="2">
            <a:schemeClr val="accent1"/>
          </a:lnRef>
          <a:fillRef idx="1">
            <a:schemeClr val="lt1"/>
          </a:fillRef>
          <a:effectRef idx="0">
            <a:schemeClr val="accent1"/>
          </a:effectRef>
          <a:fontRef idx="minor">
            <a:schemeClr val="dk1"/>
          </a:fontRef>
        </p:style>
        <p:txBody>
          <a:bodyPr wrap="square" lIns="0" tIns="0" rIns="0" bIns="0" rtlCol="0" anchor="t">
            <a:spAutoFit/>
          </a:bodyPr>
          <a:lstStyle/>
          <a:p>
            <a:pPr marL="916847" lvl="1" indent="-458423" algn="l">
              <a:lnSpc>
                <a:spcPts val="5945"/>
              </a:lnSpc>
              <a:buFont typeface="Arial"/>
              <a:buChar char="•"/>
            </a:pPr>
            <a:r>
              <a:rPr lang="en-US" sz="4246" dirty="0">
                <a:solidFill>
                  <a:srgbClr val="1800AD"/>
                </a:solidFill>
                <a:latin typeface="Poppins"/>
                <a:ea typeface="Poppins"/>
                <a:cs typeface="Poppins"/>
                <a:sym typeface="Poppins"/>
              </a:rPr>
              <a:t>PS-Name: </a:t>
            </a:r>
            <a:r>
              <a:rPr lang="en-US" sz="4246" i="1" dirty="0" err="1">
                <a:solidFill>
                  <a:srgbClr val="1800AD"/>
                </a:solidFill>
                <a:latin typeface="Poppins"/>
                <a:ea typeface="Poppins"/>
                <a:cs typeface="Poppins"/>
                <a:sym typeface="Poppins"/>
              </a:rPr>
              <a:t>TaskSphere</a:t>
            </a:r>
            <a:endParaRPr lang="en-US" sz="4246" i="1" dirty="0">
              <a:solidFill>
                <a:srgbClr val="1800AD"/>
              </a:solidFill>
              <a:latin typeface="Poppins"/>
              <a:ea typeface="Poppins"/>
              <a:cs typeface="Poppins"/>
              <a:sym typeface="Poppins"/>
            </a:endParaRPr>
          </a:p>
          <a:p>
            <a:pPr algn="l">
              <a:lnSpc>
                <a:spcPts val="5945"/>
              </a:lnSpc>
            </a:pPr>
            <a:endParaRPr lang="en-US" sz="4246" dirty="0">
              <a:solidFill>
                <a:srgbClr val="1800AD"/>
              </a:solidFill>
              <a:latin typeface="Poppins"/>
              <a:ea typeface="Poppins"/>
              <a:cs typeface="Poppins"/>
              <a:sym typeface="Poppins"/>
            </a:endParaRPr>
          </a:p>
          <a:p>
            <a:pPr marL="916847" lvl="1" indent="-458423" algn="l">
              <a:lnSpc>
                <a:spcPts val="5945"/>
              </a:lnSpc>
              <a:buFont typeface="Arial"/>
              <a:buChar char="•"/>
            </a:pPr>
            <a:r>
              <a:rPr lang="en-US" sz="4246" dirty="0">
                <a:solidFill>
                  <a:srgbClr val="1800AD"/>
                </a:solidFill>
                <a:latin typeface="Poppins"/>
                <a:ea typeface="Poppins"/>
                <a:cs typeface="Poppins"/>
                <a:sym typeface="Poppins"/>
              </a:rPr>
              <a:t>PS-Domain: </a:t>
            </a:r>
            <a:r>
              <a:rPr lang="en-US" sz="4246" i="1" dirty="0">
                <a:solidFill>
                  <a:srgbClr val="1800AD"/>
                </a:solidFill>
                <a:latin typeface="Poppins"/>
                <a:ea typeface="Poppins"/>
                <a:cs typeface="Poppins"/>
                <a:sym typeface="Poppins"/>
              </a:rPr>
              <a:t>Full Stack Domain</a:t>
            </a:r>
          </a:p>
          <a:p>
            <a:pPr algn="l">
              <a:lnSpc>
                <a:spcPts val="5945"/>
              </a:lnSpc>
            </a:pPr>
            <a:endParaRPr lang="en-US" sz="4246" dirty="0">
              <a:solidFill>
                <a:srgbClr val="1800AD"/>
              </a:solidFill>
              <a:latin typeface="Poppins"/>
              <a:ea typeface="Poppins"/>
              <a:cs typeface="Poppins"/>
              <a:sym typeface="Poppins"/>
            </a:endParaRPr>
          </a:p>
          <a:p>
            <a:pPr marL="916847" lvl="1" indent="-458423">
              <a:lnSpc>
                <a:spcPts val="5945"/>
              </a:lnSpc>
              <a:buFont typeface="Arial"/>
              <a:buChar char="•"/>
            </a:pPr>
            <a:r>
              <a:rPr lang="en-US" sz="4246" dirty="0">
                <a:solidFill>
                  <a:srgbClr val="1800AD"/>
                </a:solidFill>
                <a:latin typeface="Poppins"/>
                <a:ea typeface="Poppins"/>
                <a:cs typeface="Poppins"/>
                <a:sym typeface="Poppins"/>
              </a:rPr>
              <a:t>Team Leader Name: </a:t>
            </a:r>
            <a:r>
              <a:rPr lang="en-US" sz="4246" i="1" dirty="0">
                <a:solidFill>
                  <a:srgbClr val="1800AD"/>
                </a:solidFill>
                <a:latin typeface="Poppins"/>
                <a:ea typeface="Poppins"/>
                <a:cs typeface="Poppins"/>
                <a:sym typeface="Poppins"/>
              </a:rPr>
              <a:t>Harsh Mane</a:t>
            </a:r>
          </a:p>
          <a:p>
            <a:pPr algn="l">
              <a:lnSpc>
                <a:spcPts val="5945"/>
              </a:lnSpc>
            </a:pPr>
            <a:endParaRPr lang="en-US" sz="4246" dirty="0">
              <a:solidFill>
                <a:srgbClr val="1800AD"/>
              </a:solidFill>
              <a:latin typeface="Poppins"/>
              <a:ea typeface="Poppins"/>
              <a:cs typeface="Poppins"/>
              <a:sym typeface="Poppins"/>
            </a:endParaRPr>
          </a:p>
          <a:p>
            <a:pPr marL="916847" lvl="1" indent="-458423">
              <a:lnSpc>
                <a:spcPts val="5945"/>
              </a:lnSpc>
              <a:buFont typeface="Arial"/>
              <a:buChar char="•"/>
            </a:pPr>
            <a:r>
              <a:rPr lang="en-US" sz="4246" dirty="0">
                <a:solidFill>
                  <a:srgbClr val="1800AD"/>
                </a:solidFill>
                <a:latin typeface="Poppins"/>
                <a:ea typeface="Poppins"/>
                <a:cs typeface="Poppins"/>
                <a:sym typeface="Poppins"/>
              </a:rPr>
              <a:t>Team name: </a:t>
            </a:r>
            <a:r>
              <a:rPr lang="en-US" sz="4246" i="1" dirty="0">
                <a:solidFill>
                  <a:srgbClr val="1800AD"/>
                </a:solidFill>
                <a:latin typeface="Poppins"/>
                <a:ea typeface="Poppins"/>
                <a:cs typeface="Poppins"/>
                <a:sym typeface="Poppins"/>
              </a:rPr>
              <a:t>Code Reapers</a:t>
            </a:r>
          </a:p>
          <a:p>
            <a:pPr algn="l">
              <a:lnSpc>
                <a:spcPts val="5945"/>
              </a:lnSpc>
            </a:pPr>
            <a:endParaRPr lang="en-US" sz="4246" dirty="0">
              <a:solidFill>
                <a:srgbClr val="1800AD"/>
              </a:solidFill>
              <a:latin typeface="Poppins"/>
              <a:ea typeface="Poppins"/>
              <a:cs typeface="Poppins"/>
              <a:sym typeface="Poppins"/>
            </a:endParaRPr>
          </a:p>
          <a:p>
            <a:pPr marL="916847" lvl="1" indent="-458423" algn="l">
              <a:lnSpc>
                <a:spcPts val="5945"/>
              </a:lnSpc>
              <a:buFont typeface="Arial"/>
              <a:buChar char="•"/>
            </a:pPr>
            <a:r>
              <a:rPr lang="en-US" sz="4246" dirty="0">
                <a:solidFill>
                  <a:srgbClr val="1800AD"/>
                </a:solidFill>
                <a:latin typeface="Poppins"/>
                <a:ea typeface="Poppins"/>
                <a:cs typeface="Poppins"/>
                <a:sym typeface="Poppins"/>
              </a:rPr>
              <a:t>College Name: </a:t>
            </a:r>
          </a:p>
          <a:p>
            <a:pPr marL="458424" lvl="1" algn="l">
              <a:lnSpc>
                <a:spcPts val="5945"/>
              </a:lnSpc>
            </a:pPr>
            <a:r>
              <a:rPr lang="en-US" sz="4246" i="1" dirty="0">
                <a:solidFill>
                  <a:srgbClr val="1800AD"/>
                </a:solidFill>
                <a:latin typeface="Poppins"/>
                <a:ea typeface="Poppins"/>
                <a:cs typeface="Poppins"/>
                <a:sym typeface="Poppins"/>
              </a:rPr>
              <a:t>	Shri </a:t>
            </a:r>
            <a:r>
              <a:rPr lang="en-US" sz="4246" i="1" dirty="0" err="1">
                <a:solidFill>
                  <a:srgbClr val="1800AD"/>
                </a:solidFill>
                <a:latin typeface="Poppins"/>
                <a:ea typeface="Poppins"/>
                <a:cs typeface="Poppins"/>
                <a:sym typeface="Poppins"/>
              </a:rPr>
              <a:t>Bhagubhai</a:t>
            </a:r>
            <a:r>
              <a:rPr lang="en-US" sz="4246" i="1" dirty="0">
                <a:solidFill>
                  <a:srgbClr val="1800AD"/>
                </a:solidFill>
                <a:latin typeface="Poppins"/>
                <a:ea typeface="Poppins"/>
                <a:cs typeface="Poppins"/>
                <a:sym typeface="Poppins"/>
              </a:rPr>
              <a:t> Mafatlal Polytechnic and 	College of Engineering</a:t>
            </a:r>
          </a:p>
          <a:p>
            <a:pPr algn="l">
              <a:lnSpc>
                <a:spcPts val="5945"/>
              </a:lnSpc>
            </a:pPr>
            <a:endParaRPr lang="en-US" sz="4246" dirty="0">
              <a:solidFill>
                <a:srgbClr val="1800AD"/>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15397" y="5863500"/>
            <a:ext cx="1944097" cy="3042934"/>
          </a:xfrm>
          <a:custGeom>
            <a:avLst/>
            <a:gdLst/>
            <a:ahLst/>
            <a:cxnLst/>
            <a:rect l="l" t="t" r="r" b="b"/>
            <a:pathLst>
              <a:path w="1944097" h="3042934">
                <a:moveTo>
                  <a:pt x="0" y="0"/>
                </a:moveTo>
                <a:lnTo>
                  <a:pt x="1944097" y="0"/>
                </a:lnTo>
                <a:lnTo>
                  <a:pt x="1944097" y="3042934"/>
                </a:lnTo>
                <a:lnTo>
                  <a:pt x="0" y="30429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1869391" y="4136073"/>
            <a:ext cx="6875809" cy="7191707"/>
          </a:xfrm>
          <a:custGeom>
            <a:avLst/>
            <a:gdLst/>
            <a:ahLst/>
            <a:cxnLst/>
            <a:rect l="l" t="t" r="r" b="b"/>
            <a:pathLst>
              <a:path w="6875809" h="7191707">
                <a:moveTo>
                  <a:pt x="0" y="0"/>
                </a:moveTo>
                <a:lnTo>
                  <a:pt x="6875809" y="0"/>
                </a:lnTo>
                <a:lnTo>
                  <a:pt x="6875809" y="7191707"/>
                </a:lnTo>
                <a:lnTo>
                  <a:pt x="0" y="719170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TextBox 4"/>
          <p:cNvSpPr txBox="1"/>
          <p:nvPr/>
        </p:nvSpPr>
        <p:spPr>
          <a:xfrm>
            <a:off x="16023195" y="2468375"/>
            <a:ext cx="2722005" cy="618315"/>
          </a:xfrm>
          <a:prstGeom prst="rect">
            <a:avLst/>
          </a:prstGeom>
        </p:spPr>
        <p:txBody>
          <a:bodyPr lIns="0" tIns="0" rIns="0" bIns="0" rtlCol="0" anchor="t">
            <a:spAutoFit/>
          </a:bodyPr>
          <a:lstStyle/>
          <a:p>
            <a:pPr algn="ctr">
              <a:lnSpc>
                <a:spcPts val="4829"/>
              </a:lnSpc>
            </a:pPr>
            <a:endParaRPr/>
          </a:p>
        </p:txBody>
      </p:sp>
      <p:grpSp>
        <p:nvGrpSpPr>
          <p:cNvPr id="5" name="Group 5"/>
          <p:cNvGrpSpPr/>
          <p:nvPr/>
        </p:nvGrpSpPr>
        <p:grpSpPr>
          <a:xfrm>
            <a:off x="16032893" y="245565"/>
            <a:ext cx="1887307" cy="1719270"/>
            <a:chOff x="0" y="0"/>
            <a:chExt cx="2516409" cy="2292361"/>
          </a:xfrm>
        </p:grpSpPr>
        <p:sp>
          <p:nvSpPr>
            <p:cNvPr id="6" name="Freeform 6"/>
            <p:cNvSpPr/>
            <p:nvPr/>
          </p:nvSpPr>
          <p:spPr>
            <a:xfrm>
              <a:off x="0" y="0"/>
              <a:ext cx="2516409" cy="2292361"/>
            </a:xfrm>
            <a:custGeom>
              <a:avLst/>
              <a:gdLst/>
              <a:ahLst/>
              <a:cxnLst/>
              <a:rect l="l" t="t" r="r" b="b"/>
              <a:pathLst>
                <a:path w="2516409" h="2292361">
                  <a:moveTo>
                    <a:pt x="0" y="0"/>
                  </a:moveTo>
                  <a:lnTo>
                    <a:pt x="2516409" y="0"/>
                  </a:lnTo>
                  <a:lnTo>
                    <a:pt x="2516409" y="2292361"/>
                  </a:lnTo>
                  <a:lnTo>
                    <a:pt x="0" y="2292361"/>
                  </a:lnTo>
                  <a:lnTo>
                    <a:pt x="0" y="0"/>
                  </a:lnTo>
                  <a:close/>
                </a:path>
              </a:pathLst>
            </a:custGeom>
            <a:blipFill>
              <a:blip r:embed="rId6"/>
              <a:stretch>
                <a:fillRect l="-13518" t="-15546" r="-13518"/>
              </a:stretch>
            </a:blipFill>
          </p:spPr>
        </p:sp>
        <p:sp>
          <p:nvSpPr>
            <p:cNvPr id="7" name="TextBox 7"/>
            <p:cNvSpPr txBox="1"/>
            <p:nvPr/>
          </p:nvSpPr>
          <p:spPr>
            <a:xfrm>
              <a:off x="0" y="1742128"/>
              <a:ext cx="2516409" cy="550233"/>
            </a:xfrm>
            <a:prstGeom prst="rect">
              <a:avLst/>
            </a:prstGeom>
          </p:spPr>
          <p:txBody>
            <a:bodyPr lIns="0" tIns="0" rIns="0" bIns="0" rtlCol="0" anchor="t">
              <a:spAutoFit/>
            </a:bodyPr>
            <a:lstStyle/>
            <a:p>
              <a:pPr algn="ctr">
                <a:lnSpc>
                  <a:spcPts val="3348"/>
                </a:lnSpc>
              </a:pPr>
              <a:endParaRPr/>
            </a:p>
          </p:txBody>
        </p:sp>
      </p:grpSp>
      <p:sp>
        <p:nvSpPr>
          <p:cNvPr id="8" name="Freeform 8"/>
          <p:cNvSpPr/>
          <p:nvPr/>
        </p:nvSpPr>
        <p:spPr>
          <a:xfrm flipH="1" flipV="1">
            <a:off x="-184363" y="-742065"/>
            <a:ext cx="7321151" cy="7657510"/>
          </a:xfrm>
          <a:custGeom>
            <a:avLst/>
            <a:gdLst/>
            <a:ahLst/>
            <a:cxnLst/>
            <a:rect l="l" t="t" r="r" b="b"/>
            <a:pathLst>
              <a:path w="7321151" h="7657510">
                <a:moveTo>
                  <a:pt x="7321151" y="7657510"/>
                </a:moveTo>
                <a:lnTo>
                  <a:pt x="0" y="7657510"/>
                </a:lnTo>
                <a:lnTo>
                  <a:pt x="0" y="0"/>
                </a:lnTo>
                <a:lnTo>
                  <a:pt x="7321151" y="0"/>
                </a:lnTo>
                <a:lnTo>
                  <a:pt x="7321151" y="7657510"/>
                </a:lnTo>
                <a:close/>
              </a:path>
            </a:pathLst>
          </a:custGeom>
          <a:blipFill>
            <a:blip r:embed="rId4">
              <a:alphaModFix amt="43999"/>
              <a:extLst>
                <a:ext uri="{96DAC541-7B7A-43D3-8B79-37D633B846F1}">
                  <asvg:svgBlip xmlns:asvg="http://schemas.microsoft.com/office/drawing/2016/SVG/main" r:embed="rId5"/>
                </a:ext>
              </a:extLst>
            </a:blip>
            <a:stretch>
              <a:fillRect/>
            </a:stretch>
          </a:blipFill>
        </p:spPr>
      </p:sp>
      <p:sp>
        <p:nvSpPr>
          <p:cNvPr id="9" name="Freeform 9"/>
          <p:cNvSpPr/>
          <p:nvPr/>
        </p:nvSpPr>
        <p:spPr>
          <a:xfrm>
            <a:off x="12841397" y="2660622"/>
            <a:ext cx="5465937" cy="6695468"/>
          </a:xfrm>
          <a:custGeom>
            <a:avLst/>
            <a:gdLst/>
            <a:ahLst/>
            <a:cxnLst/>
            <a:rect l="l" t="t" r="r" b="b"/>
            <a:pathLst>
              <a:path w="5465937" h="6695468">
                <a:moveTo>
                  <a:pt x="0" y="0"/>
                </a:moveTo>
                <a:lnTo>
                  <a:pt x="5465937" y="0"/>
                </a:lnTo>
                <a:lnTo>
                  <a:pt x="5465937" y="6695468"/>
                </a:lnTo>
                <a:lnTo>
                  <a:pt x="0" y="6695468"/>
                </a:lnTo>
                <a:lnTo>
                  <a:pt x="0" y="0"/>
                </a:lnTo>
                <a:close/>
              </a:path>
            </a:pathLst>
          </a:custGeom>
          <a:blipFill>
            <a:blip r:embed="rId7">
              <a:alphaModFix amt="27000"/>
              <a:extLst>
                <a:ext uri="{96DAC541-7B7A-43D3-8B79-37D633B846F1}">
                  <asvg:svgBlip xmlns:asvg="http://schemas.microsoft.com/office/drawing/2016/SVG/main" r:embed="rId8"/>
                </a:ext>
              </a:extLst>
            </a:blip>
            <a:stretch>
              <a:fillRect/>
            </a:stretch>
          </a:blipFill>
        </p:spPr>
      </p:sp>
      <p:grpSp>
        <p:nvGrpSpPr>
          <p:cNvPr id="10" name="Group 10"/>
          <p:cNvGrpSpPr/>
          <p:nvPr/>
        </p:nvGrpSpPr>
        <p:grpSpPr>
          <a:xfrm>
            <a:off x="1028700" y="993700"/>
            <a:ext cx="7162816" cy="1297661"/>
            <a:chOff x="0" y="0"/>
            <a:chExt cx="1886503" cy="341771"/>
          </a:xfrm>
        </p:grpSpPr>
        <p:sp>
          <p:nvSpPr>
            <p:cNvPr id="11" name="Freeform 11"/>
            <p:cNvSpPr/>
            <p:nvPr/>
          </p:nvSpPr>
          <p:spPr>
            <a:xfrm>
              <a:off x="0" y="0"/>
              <a:ext cx="1886503" cy="341771"/>
            </a:xfrm>
            <a:custGeom>
              <a:avLst/>
              <a:gdLst/>
              <a:ahLst/>
              <a:cxnLst/>
              <a:rect l="l" t="t" r="r" b="b"/>
              <a:pathLst>
                <a:path w="1886503" h="341771">
                  <a:moveTo>
                    <a:pt x="0" y="0"/>
                  </a:moveTo>
                  <a:lnTo>
                    <a:pt x="1886503" y="0"/>
                  </a:lnTo>
                  <a:lnTo>
                    <a:pt x="1886503" y="341771"/>
                  </a:lnTo>
                  <a:lnTo>
                    <a:pt x="0" y="341771"/>
                  </a:lnTo>
                  <a:close/>
                </a:path>
              </a:pathLst>
            </a:custGeom>
            <a:solidFill>
              <a:srgbClr val="FFFFFF"/>
            </a:solidFill>
            <a:ln w="47625" cap="sq">
              <a:solidFill>
                <a:srgbClr val="6366F1"/>
              </a:solidFill>
              <a:prstDash val="solid"/>
              <a:miter/>
            </a:ln>
          </p:spPr>
        </p:sp>
        <p:sp>
          <p:nvSpPr>
            <p:cNvPr id="12" name="TextBox 12"/>
            <p:cNvSpPr txBox="1"/>
            <p:nvPr/>
          </p:nvSpPr>
          <p:spPr>
            <a:xfrm>
              <a:off x="0" y="-66675"/>
              <a:ext cx="1886503" cy="408446"/>
            </a:xfrm>
            <a:prstGeom prst="rect">
              <a:avLst/>
            </a:prstGeom>
          </p:spPr>
          <p:txBody>
            <a:bodyPr lIns="50800" tIns="50800" rIns="50800" bIns="50800" rtlCol="0" anchor="ctr"/>
            <a:lstStyle/>
            <a:p>
              <a:pPr algn="ctr">
                <a:lnSpc>
                  <a:spcPts val="3018"/>
                </a:lnSpc>
              </a:pPr>
              <a:endParaRPr/>
            </a:p>
          </p:txBody>
        </p:sp>
      </p:grpSp>
      <p:sp>
        <p:nvSpPr>
          <p:cNvPr id="13" name="TextBox 13"/>
          <p:cNvSpPr txBox="1"/>
          <p:nvPr/>
        </p:nvSpPr>
        <p:spPr>
          <a:xfrm>
            <a:off x="1426277" y="1196400"/>
            <a:ext cx="6367661" cy="768436"/>
          </a:xfrm>
          <a:prstGeom prst="rect">
            <a:avLst/>
          </a:prstGeom>
        </p:spPr>
        <p:txBody>
          <a:bodyPr lIns="0" tIns="0" rIns="0" bIns="0" rtlCol="0" anchor="t">
            <a:spAutoFit/>
          </a:bodyPr>
          <a:lstStyle/>
          <a:p>
            <a:pPr algn="ctr">
              <a:lnSpc>
                <a:spcPts val="5945"/>
              </a:lnSpc>
            </a:pPr>
            <a:r>
              <a:rPr lang="en-US" sz="4246" b="1" dirty="0">
                <a:solidFill>
                  <a:srgbClr val="1800AD"/>
                </a:solidFill>
                <a:latin typeface="Poppins Bold"/>
                <a:ea typeface="Poppins Bold"/>
                <a:cs typeface="Poppins Bold"/>
                <a:sym typeface="Poppins Bold"/>
              </a:rPr>
              <a:t>Approach and Solution</a:t>
            </a:r>
          </a:p>
        </p:txBody>
      </p:sp>
      <p:sp>
        <p:nvSpPr>
          <p:cNvPr id="14" name="TextBox 13">
            <a:extLst>
              <a:ext uri="{FF2B5EF4-FFF2-40B4-BE49-F238E27FC236}">
                <a16:creationId xmlns:a16="http://schemas.microsoft.com/office/drawing/2014/main" id="{6A1A0245-E366-4616-737C-3D0A25AFDB66}"/>
              </a:ext>
            </a:extLst>
          </p:cNvPr>
          <p:cNvSpPr txBox="1"/>
          <p:nvPr/>
        </p:nvSpPr>
        <p:spPr>
          <a:xfrm>
            <a:off x="5162550" y="3443129"/>
            <a:ext cx="9601200" cy="4588827"/>
          </a:xfrm>
          <a:prstGeom prst="rect">
            <a:avLst/>
          </a:prstGeom>
          <a:noFill/>
        </p:spPr>
        <p:txBody>
          <a:bodyPr wrap="square" rtlCol="0">
            <a:spAutoFit/>
          </a:bodyPr>
          <a:lstStyle/>
          <a:p>
            <a:endParaRPr lang="en-IN" dirty="0"/>
          </a:p>
        </p:txBody>
      </p:sp>
      <p:grpSp>
        <p:nvGrpSpPr>
          <p:cNvPr id="18" name="Group 10">
            <a:extLst>
              <a:ext uri="{FF2B5EF4-FFF2-40B4-BE49-F238E27FC236}">
                <a16:creationId xmlns:a16="http://schemas.microsoft.com/office/drawing/2014/main" id="{7EAB47BA-8B9E-2870-A545-099878022EDE}"/>
              </a:ext>
            </a:extLst>
          </p:cNvPr>
          <p:cNvGrpSpPr/>
          <p:nvPr/>
        </p:nvGrpSpPr>
        <p:grpSpPr>
          <a:xfrm>
            <a:off x="1028700" y="2051438"/>
            <a:ext cx="11812697" cy="7913839"/>
            <a:chOff x="0" y="-66675"/>
            <a:chExt cx="1886503" cy="431270"/>
          </a:xfrm>
        </p:grpSpPr>
        <p:sp>
          <p:nvSpPr>
            <p:cNvPr id="19" name="Freeform 11">
              <a:extLst>
                <a:ext uri="{FF2B5EF4-FFF2-40B4-BE49-F238E27FC236}">
                  <a16:creationId xmlns:a16="http://schemas.microsoft.com/office/drawing/2014/main" id="{949C7CEE-EF57-E4CF-D7A8-611C7B591B8A}"/>
                </a:ext>
              </a:extLst>
            </p:cNvPr>
            <p:cNvSpPr/>
            <p:nvPr/>
          </p:nvSpPr>
          <p:spPr>
            <a:xfrm>
              <a:off x="0" y="0"/>
              <a:ext cx="1886503" cy="364595"/>
            </a:xfrm>
            <a:custGeom>
              <a:avLst/>
              <a:gdLst/>
              <a:ahLst/>
              <a:cxnLst/>
              <a:rect l="l" t="t" r="r" b="b"/>
              <a:pathLst>
                <a:path w="1886503" h="341771">
                  <a:moveTo>
                    <a:pt x="0" y="0"/>
                  </a:moveTo>
                  <a:lnTo>
                    <a:pt x="1886503" y="0"/>
                  </a:lnTo>
                  <a:lnTo>
                    <a:pt x="1886503" y="341771"/>
                  </a:lnTo>
                  <a:lnTo>
                    <a:pt x="0" y="341771"/>
                  </a:lnTo>
                  <a:close/>
                </a:path>
              </a:pathLst>
            </a:custGeom>
            <a:solidFill>
              <a:srgbClr val="FFFFFF"/>
            </a:solidFill>
            <a:ln w="47625" cap="sq">
              <a:solidFill>
                <a:srgbClr val="6366F1"/>
              </a:solidFill>
              <a:prstDash val="solid"/>
              <a:miter/>
            </a:ln>
          </p:spPr>
          <p:txBody>
            <a:bodyPr/>
            <a:lstStyle/>
            <a:p>
              <a:r>
                <a:rPr lang="en-IN" sz="3500" b="1" dirty="0">
                  <a:latin typeface="+mj-lt"/>
                </a:rPr>
                <a:t>Problem &amp; Our Approach</a:t>
              </a:r>
              <a:endParaRPr lang="en-IN" sz="3500" dirty="0">
                <a:latin typeface="+mj-lt"/>
              </a:endParaRPr>
            </a:p>
            <a:p>
              <a:pPr lvl="1"/>
              <a:r>
                <a:rPr lang="en-IN" sz="3500" dirty="0">
                  <a:latin typeface="+mj-lt"/>
                </a:rPr>
                <a:t>Today, students and small teams use different apps for tasks, reminders, and communication. This leads to confusion, missed deadlines, and no clear accountability. Personal and professional work often overlaps, making it harder to stay organized and productive.</a:t>
              </a:r>
            </a:p>
            <a:p>
              <a:r>
                <a:rPr lang="en-IN" sz="3500" b="1" dirty="0">
                  <a:latin typeface="+mj-lt"/>
                </a:rPr>
                <a:t>Our Approach</a:t>
              </a:r>
              <a:endParaRPr lang="en-IN" sz="3500" dirty="0">
                <a:latin typeface="+mj-lt"/>
              </a:endParaRPr>
            </a:p>
            <a:p>
              <a:pPr marL="457200" indent="-457200">
                <a:buFont typeface="Arial" panose="020B0604020202020204" pitchFamily="34" charset="0"/>
                <a:buChar char="•"/>
              </a:pPr>
              <a:r>
                <a:rPr lang="en-IN" sz="3500" dirty="0">
                  <a:latin typeface="+mj-lt"/>
                </a:rPr>
                <a:t>Build one centralized platform instead of many scattered tools</a:t>
              </a:r>
            </a:p>
            <a:p>
              <a:pPr marL="457200" indent="-457200">
                <a:buFont typeface="Arial" panose="020B0604020202020204" pitchFamily="34" charset="0"/>
                <a:buChar char="•"/>
              </a:pPr>
              <a:r>
                <a:rPr lang="en-IN" sz="3500" dirty="0">
                  <a:latin typeface="+mj-lt"/>
                </a:rPr>
                <a:t>Separate Personal and Professional workspaces clearly</a:t>
              </a:r>
            </a:p>
            <a:p>
              <a:pPr marL="457200" indent="-457200">
                <a:buFont typeface="Arial" panose="020B0604020202020204" pitchFamily="34" charset="0"/>
                <a:buChar char="•"/>
              </a:pPr>
              <a:r>
                <a:rPr lang="en-IN" sz="3500" dirty="0">
                  <a:latin typeface="+mj-lt"/>
                </a:rPr>
                <a:t>Focus on clarity, responsibility, and ease of use</a:t>
              </a:r>
            </a:p>
            <a:p>
              <a:pPr marL="457200" indent="-457200">
                <a:buFont typeface="Arial" panose="020B0604020202020204" pitchFamily="34" charset="0"/>
                <a:buChar char="•"/>
              </a:pPr>
              <a:r>
                <a:rPr lang="en-IN" sz="3500" dirty="0">
                  <a:latin typeface="+mj-lt"/>
                </a:rPr>
                <a:t>Design the system around real daily workflows</a:t>
              </a:r>
            </a:p>
            <a:p>
              <a:endParaRPr lang="en-IN" dirty="0"/>
            </a:p>
          </p:txBody>
        </p:sp>
        <p:sp>
          <p:nvSpPr>
            <p:cNvPr id="20" name="TextBox 12">
              <a:extLst>
                <a:ext uri="{FF2B5EF4-FFF2-40B4-BE49-F238E27FC236}">
                  <a16:creationId xmlns:a16="http://schemas.microsoft.com/office/drawing/2014/main" id="{F6441C94-85E5-1B31-1F95-2F5B9E2187B2}"/>
                </a:ext>
              </a:extLst>
            </p:cNvPr>
            <p:cNvSpPr txBox="1"/>
            <p:nvPr/>
          </p:nvSpPr>
          <p:spPr>
            <a:xfrm>
              <a:off x="0" y="-66675"/>
              <a:ext cx="1886503" cy="408446"/>
            </a:xfrm>
            <a:prstGeom prst="rect">
              <a:avLst/>
            </a:prstGeom>
          </p:spPr>
          <p:txBody>
            <a:bodyPr lIns="50800" tIns="50800" rIns="50800" bIns="50800" rtlCol="0" anchor="ctr"/>
            <a:lstStyle/>
            <a:p>
              <a:pPr algn="ctr">
                <a:lnSpc>
                  <a:spcPts val="3018"/>
                </a:lnSpc>
              </a:pPr>
              <a:endParaRPr/>
            </a:p>
          </p:txBody>
        </p:sp>
      </p:grpSp>
      <p:sp>
        <p:nvSpPr>
          <p:cNvPr id="21" name="TextBox 20">
            <a:extLst>
              <a:ext uri="{FF2B5EF4-FFF2-40B4-BE49-F238E27FC236}">
                <a16:creationId xmlns:a16="http://schemas.microsoft.com/office/drawing/2014/main" id="{29E289C5-0DD7-91F1-A73E-31EE9558BE1C}"/>
              </a:ext>
            </a:extLst>
          </p:cNvPr>
          <p:cNvSpPr txBox="1"/>
          <p:nvPr/>
        </p:nvSpPr>
        <p:spPr>
          <a:xfrm>
            <a:off x="9257984" y="428986"/>
            <a:ext cx="2857816" cy="2454218"/>
          </a:xfrm>
          <a:prstGeom prst="rect">
            <a:avLst/>
          </a:prstGeom>
          <a:noFill/>
          <a:ln w="76200">
            <a:solidFill>
              <a:schemeClr val="tx2">
                <a:lumMod val="60000"/>
                <a:lumOff val="40000"/>
              </a:schemeClr>
            </a:solidFill>
          </a:ln>
        </p:spPr>
        <p:txBody>
          <a:bodyPr wrap="square" rtlCol="0">
            <a:spAutoFit/>
          </a:bodyPr>
          <a:lstStyle/>
          <a:p>
            <a:r>
              <a:rPr lang="en-US" sz="15000" b="1" dirty="0"/>
              <a:t>🧠</a:t>
            </a:r>
            <a:endParaRPr lang="en-IN" sz="15000" b="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flipV="1">
            <a:off x="-184363" y="-742065"/>
            <a:ext cx="7321151" cy="7657510"/>
          </a:xfrm>
          <a:custGeom>
            <a:avLst/>
            <a:gdLst/>
            <a:ahLst/>
            <a:cxnLst/>
            <a:rect l="l" t="t" r="r" b="b"/>
            <a:pathLst>
              <a:path w="7321151" h="7657510">
                <a:moveTo>
                  <a:pt x="7321151" y="7657510"/>
                </a:moveTo>
                <a:lnTo>
                  <a:pt x="0" y="7657510"/>
                </a:lnTo>
                <a:lnTo>
                  <a:pt x="0" y="0"/>
                </a:lnTo>
                <a:lnTo>
                  <a:pt x="7321151" y="0"/>
                </a:lnTo>
                <a:lnTo>
                  <a:pt x="7321151" y="7657510"/>
                </a:lnTo>
                <a:close/>
              </a:path>
            </a:pathLst>
          </a:custGeom>
          <a:blipFill>
            <a:blip r:embed="rId2">
              <a:alphaModFix amt="43999"/>
              <a:extLst>
                <a:ext uri="{96DAC541-7B7A-43D3-8B79-37D633B846F1}">
                  <asvg:svgBlip xmlns:asvg="http://schemas.microsoft.com/office/drawing/2016/SVG/main" r:embed="rId3"/>
                </a:ext>
              </a:extLst>
            </a:blip>
            <a:stretch>
              <a:fillRect/>
            </a:stretch>
          </a:blipFill>
        </p:spPr>
      </p:sp>
      <p:sp>
        <p:nvSpPr>
          <p:cNvPr id="3" name="Freeform 3"/>
          <p:cNvSpPr/>
          <p:nvPr/>
        </p:nvSpPr>
        <p:spPr>
          <a:xfrm>
            <a:off x="-915397" y="5863500"/>
            <a:ext cx="1944097" cy="3042934"/>
          </a:xfrm>
          <a:custGeom>
            <a:avLst/>
            <a:gdLst/>
            <a:ahLst/>
            <a:cxnLst/>
            <a:rect l="l" t="t" r="r" b="b"/>
            <a:pathLst>
              <a:path w="1944097" h="3042934">
                <a:moveTo>
                  <a:pt x="0" y="0"/>
                </a:moveTo>
                <a:lnTo>
                  <a:pt x="1944097" y="0"/>
                </a:lnTo>
                <a:lnTo>
                  <a:pt x="1944097" y="3042934"/>
                </a:lnTo>
                <a:lnTo>
                  <a:pt x="0" y="304293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11869391" y="4136073"/>
            <a:ext cx="6875809" cy="7191707"/>
          </a:xfrm>
          <a:custGeom>
            <a:avLst/>
            <a:gdLst/>
            <a:ahLst/>
            <a:cxnLst/>
            <a:rect l="l" t="t" r="r" b="b"/>
            <a:pathLst>
              <a:path w="6875809" h="7191707">
                <a:moveTo>
                  <a:pt x="0" y="0"/>
                </a:moveTo>
                <a:lnTo>
                  <a:pt x="6875809" y="0"/>
                </a:lnTo>
                <a:lnTo>
                  <a:pt x="6875809" y="7191707"/>
                </a:lnTo>
                <a:lnTo>
                  <a:pt x="0" y="719170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5" name="Group 5"/>
          <p:cNvGrpSpPr/>
          <p:nvPr/>
        </p:nvGrpSpPr>
        <p:grpSpPr>
          <a:xfrm>
            <a:off x="16032893" y="192359"/>
            <a:ext cx="1887307" cy="1719270"/>
            <a:chOff x="0" y="0"/>
            <a:chExt cx="2516409" cy="2292361"/>
          </a:xfrm>
        </p:grpSpPr>
        <p:sp>
          <p:nvSpPr>
            <p:cNvPr id="6" name="Freeform 6"/>
            <p:cNvSpPr/>
            <p:nvPr/>
          </p:nvSpPr>
          <p:spPr>
            <a:xfrm>
              <a:off x="0" y="0"/>
              <a:ext cx="2516409" cy="2292361"/>
            </a:xfrm>
            <a:custGeom>
              <a:avLst/>
              <a:gdLst/>
              <a:ahLst/>
              <a:cxnLst/>
              <a:rect l="l" t="t" r="r" b="b"/>
              <a:pathLst>
                <a:path w="2516409" h="2292361">
                  <a:moveTo>
                    <a:pt x="0" y="0"/>
                  </a:moveTo>
                  <a:lnTo>
                    <a:pt x="2516409" y="0"/>
                  </a:lnTo>
                  <a:lnTo>
                    <a:pt x="2516409" y="2292361"/>
                  </a:lnTo>
                  <a:lnTo>
                    <a:pt x="0" y="2292361"/>
                  </a:lnTo>
                  <a:lnTo>
                    <a:pt x="0" y="0"/>
                  </a:lnTo>
                  <a:close/>
                </a:path>
              </a:pathLst>
            </a:custGeom>
            <a:blipFill>
              <a:blip r:embed="rId6"/>
              <a:stretch>
                <a:fillRect l="-13098" t="-15546" r="-13937"/>
              </a:stretch>
            </a:blipFill>
          </p:spPr>
        </p:sp>
        <p:sp>
          <p:nvSpPr>
            <p:cNvPr id="7" name="TextBox 7"/>
            <p:cNvSpPr txBox="1"/>
            <p:nvPr/>
          </p:nvSpPr>
          <p:spPr>
            <a:xfrm>
              <a:off x="0" y="1742128"/>
              <a:ext cx="2516409" cy="550233"/>
            </a:xfrm>
            <a:prstGeom prst="rect">
              <a:avLst/>
            </a:prstGeom>
          </p:spPr>
          <p:txBody>
            <a:bodyPr lIns="0" tIns="0" rIns="0" bIns="0" rtlCol="0" anchor="t">
              <a:spAutoFit/>
            </a:bodyPr>
            <a:lstStyle/>
            <a:p>
              <a:pPr algn="ctr">
                <a:lnSpc>
                  <a:spcPts val="3348"/>
                </a:lnSpc>
              </a:pPr>
              <a:endParaRPr/>
            </a:p>
          </p:txBody>
        </p:sp>
      </p:grpSp>
      <p:grpSp>
        <p:nvGrpSpPr>
          <p:cNvPr id="8" name="Group 8"/>
          <p:cNvGrpSpPr/>
          <p:nvPr/>
        </p:nvGrpSpPr>
        <p:grpSpPr>
          <a:xfrm>
            <a:off x="1181100" y="940493"/>
            <a:ext cx="7162816" cy="1297661"/>
            <a:chOff x="0" y="0"/>
            <a:chExt cx="1886503" cy="341771"/>
          </a:xfrm>
        </p:grpSpPr>
        <p:sp>
          <p:nvSpPr>
            <p:cNvPr id="9" name="Freeform 9"/>
            <p:cNvSpPr/>
            <p:nvPr/>
          </p:nvSpPr>
          <p:spPr>
            <a:xfrm>
              <a:off x="0" y="0"/>
              <a:ext cx="1886503" cy="341771"/>
            </a:xfrm>
            <a:custGeom>
              <a:avLst/>
              <a:gdLst/>
              <a:ahLst/>
              <a:cxnLst/>
              <a:rect l="l" t="t" r="r" b="b"/>
              <a:pathLst>
                <a:path w="1886503" h="341771">
                  <a:moveTo>
                    <a:pt x="0" y="0"/>
                  </a:moveTo>
                  <a:lnTo>
                    <a:pt x="1886503" y="0"/>
                  </a:lnTo>
                  <a:lnTo>
                    <a:pt x="1886503" y="341771"/>
                  </a:lnTo>
                  <a:lnTo>
                    <a:pt x="0" y="341771"/>
                  </a:lnTo>
                  <a:close/>
                </a:path>
              </a:pathLst>
            </a:custGeom>
            <a:solidFill>
              <a:srgbClr val="FFFFFF"/>
            </a:solidFill>
            <a:ln w="47625" cap="sq">
              <a:solidFill>
                <a:srgbClr val="6366F1"/>
              </a:solidFill>
              <a:prstDash val="solid"/>
              <a:miter/>
            </a:ln>
          </p:spPr>
        </p:sp>
        <p:sp>
          <p:nvSpPr>
            <p:cNvPr id="10" name="TextBox 10"/>
            <p:cNvSpPr txBox="1"/>
            <p:nvPr/>
          </p:nvSpPr>
          <p:spPr>
            <a:xfrm>
              <a:off x="0" y="-66675"/>
              <a:ext cx="1886503" cy="408446"/>
            </a:xfrm>
            <a:prstGeom prst="rect">
              <a:avLst/>
            </a:prstGeom>
          </p:spPr>
          <p:txBody>
            <a:bodyPr lIns="50800" tIns="50800" rIns="50800" bIns="50800" rtlCol="0" anchor="ctr"/>
            <a:lstStyle/>
            <a:p>
              <a:pPr algn="ctr">
                <a:lnSpc>
                  <a:spcPts val="3018"/>
                </a:lnSpc>
              </a:pPr>
              <a:endParaRPr/>
            </a:p>
          </p:txBody>
        </p:sp>
      </p:grpSp>
      <p:sp>
        <p:nvSpPr>
          <p:cNvPr id="11" name="Freeform 11"/>
          <p:cNvSpPr/>
          <p:nvPr/>
        </p:nvSpPr>
        <p:spPr>
          <a:xfrm>
            <a:off x="13060330" y="3062958"/>
            <a:ext cx="5465937" cy="6695468"/>
          </a:xfrm>
          <a:custGeom>
            <a:avLst/>
            <a:gdLst/>
            <a:ahLst/>
            <a:cxnLst/>
            <a:rect l="l" t="t" r="r" b="b"/>
            <a:pathLst>
              <a:path w="5465937" h="6695468">
                <a:moveTo>
                  <a:pt x="0" y="0"/>
                </a:moveTo>
                <a:lnTo>
                  <a:pt x="5465937" y="0"/>
                </a:lnTo>
                <a:lnTo>
                  <a:pt x="5465937" y="6695468"/>
                </a:lnTo>
                <a:lnTo>
                  <a:pt x="0" y="6695468"/>
                </a:lnTo>
                <a:lnTo>
                  <a:pt x="0" y="0"/>
                </a:lnTo>
                <a:close/>
              </a:path>
            </a:pathLst>
          </a:custGeom>
          <a:blipFill>
            <a:blip r:embed="rId7">
              <a:alphaModFix amt="27000"/>
              <a:extLst>
                <a:ext uri="{96DAC541-7B7A-43D3-8B79-37D633B846F1}">
                  <asvg:svgBlip xmlns:asvg="http://schemas.microsoft.com/office/drawing/2016/SVG/main" r:embed="rId8"/>
                </a:ext>
              </a:extLst>
            </a:blip>
            <a:stretch>
              <a:fillRect/>
            </a:stretch>
          </a:blipFill>
        </p:spPr>
      </p:sp>
      <p:sp>
        <p:nvSpPr>
          <p:cNvPr id="12" name="TextBox 12"/>
          <p:cNvSpPr txBox="1"/>
          <p:nvPr/>
        </p:nvSpPr>
        <p:spPr>
          <a:xfrm>
            <a:off x="16023195" y="2468375"/>
            <a:ext cx="2722005" cy="618315"/>
          </a:xfrm>
          <a:prstGeom prst="rect">
            <a:avLst/>
          </a:prstGeom>
        </p:spPr>
        <p:txBody>
          <a:bodyPr lIns="0" tIns="0" rIns="0" bIns="0" rtlCol="0" anchor="t">
            <a:spAutoFit/>
          </a:bodyPr>
          <a:lstStyle/>
          <a:p>
            <a:pPr algn="ctr">
              <a:lnSpc>
                <a:spcPts val="4829"/>
              </a:lnSpc>
            </a:pPr>
            <a:endParaRPr/>
          </a:p>
        </p:txBody>
      </p:sp>
      <p:sp>
        <p:nvSpPr>
          <p:cNvPr id="13" name="TextBox 13"/>
          <p:cNvSpPr txBox="1"/>
          <p:nvPr/>
        </p:nvSpPr>
        <p:spPr>
          <a:xfrm>
            <a:off x="1578677" y="1143193"/>
            <a:ext cx="6367661" cy="768436"/>
          </a:xfrm>
          <a:prstGeom prst="rect">
            <a:avLst/>
          </a:prstGeom>
        </p:spPr>
        <p:txBody>
          <a:bodyPr lIns="0" tIns="0" rIns="0" bIns="0" rtlCol="0" anchor="t">
            <a:spAutoFit/>
          </a:bodyPr>
          <a:lstStyle/>
          <a:p>
            <a:pPr algn="ctr">
              <a:lnSpc>
                <a:spcPts val="5945"/>
              </a:lnSpc>
            </a:pPr>
            <a:r>
              <a:rPr lang="en-US" sz="4246" b="1" dirty="0">
                <a:solidFill>
                  <a:srgbClr val="1800AD"/>
                </a:solidFill>
                <a:latin typeface="Poppins Bold"/>
                <a:ea typeface="Poppins Bold"/>
                <a:cs typeface="Poppins Bold"/>
                <a:sym typeface="Poppins Bold"/>
              </a:rPr>
              <a:t>Approach and Solution</a:t>
            </a:r>
          </a:p>
        </p:txBody>
      </p:sp>
      <p:grpSp>
        <p:nvGrpSpPr>
          <p:cNvPr id="14" name="Group 10">
            <a:extLst>
              <a:ext uri="{FF2B5EF4-FFF2-40B4-BE49-F238E27FC236}">
                <a16:creationId xmlns:a16="http://schemas.microsoft.com/office/drawing/2014/main" id="{23F05395-5806-A314-A686-D6BD5B0EEC8F}"/>
              </a:ext>
            </a:extLst>
          </p:cNvPr>
          <p:cNvGrpSpPr/>
          <p:nvPr/>
        </p:nvGrpSpPr>
        <p:grpSpPr>
          <a:xfrm>
            <a:off x="1028700" y="2051438"/>
            <a:ext cx="12611100" cy="7657507"/>
            <a:chOff x="0" y="-66675"/>
            <a:chExt cx="1886503" cy="417301"/>
          </a:xfrm>
        </p:grpSpPr>
        <p:sp>
          <p:nvSpPr>
            <p:cNvPr id="15" name="Freeform 11">
              <a:extLst>
                <a:ext uri="{FF2B5EF4-FFF2-40B4-BE49-F238E27FC236}">
                  <a16:creationId xmlns:a16="http://schemas.microsoft.com/office/drawing/2014/main" id="{439D46F1-ECF2-480C-CEB9-7682801A0197}"/>
                </a:ext>
              </a:extLst>
            </p:cNvPr>
            <p:cNvSpPr/>
            <p:nvPr/>
          </p:nvSpPr>
          <p:spPr>
            <a:xfrm>
              <a:off x="0" y="0"/>
              <a:ext cx="1818110" cy="350626"/>
            </a:xfrm>
            <a:custGeom>
              <a:avLst/>
              <a:gdLst/>
              <a:ahLst/>
              <a:cxnLst/>
              <a:rect l="l" t="t" r="r" b="b"/>
              <a:pathLst>
                <a:path w="1886503" h="341771">
                  <a:moveTo>
                    <a:pt x="0" y="0"/>
                  </a:moveTo>
                  <a:lnTo>
                    <a:pt x="1886503" y="0"/>
                  </a:lnTo>
                  <a:lnTo>
                    <a:pt x="1886503" y="341771"/>
                  </a:lnTo>
                  <a:lnTo>
                    <a:pt x="0" y="341771"/>
                  </a:lnTo>
                  <a:close/>
                </a:path>
              </a:pathLst>
            </a:custGeom>
            <a:solidFill>
              <a:srgbClr val="FFFFFF"/>
            </a:solidFill>
            <a:ln w="47625" cap="sq">
              <a:solidFill>
                <a:srgbClr val="6366F1"/>
              </a:solidFill>
              <a:prstDash val="solid"/>
              <a:miter/>
            </a:ln>
          </p:spPr>
          <p:txBody>
            <a:bodyPr/>
            <a:lstStyle/>
            <a:p>
              <a:r>
                <a:rPr lang="en-IN" sz="3500" b="1" dirty="0">
                  <a:latin typeface="+mj-lt"/>
                </a:rPr>
                <a:t>Our Solution – Tasker</a:t>
              </a:r>
              <a:endParaRPr lang="en-IN" sz="3500" dirty="0">
                <a:latin typeface="+mj-lt"/>
              </a:endParaRPr>
            </a:p>
            <a:p>
              <a:r>
                <a:rPr lang="en-IN" sz="3500" dirty="0">
                  <a:latin typeface="+mj-lt"/>
                </a:rPr>
                <a:t>Tasker is a smart task management platform designed for both individuals and teams. It helps users plan their work, track progress, and complete tasks on time with less stress.</a:t>
              </a:r>
            </a:p>
            <a:p>
              <a:r>
                <a:rPr lang="en-IN" sz="3500" b="1" dirty="0">
                  <a:latin typeface="+mj-lt"/>
                </a:rPr>
                <a:t>What Tasker Offers</a:t>
              </a:r>
              <a:endParaRPr lang="en-IN" sz="3500" dirty="0">
                <a:latin typeface="+mj-lt"/>
              </a:endParaRPr>
            </a:p>
            <a:p>
              <a:pPr marL="457200" indent="-457200">
                <a:buFont typeface="Arial" panose="020B0604020202020204" pitchFamily="34" charset="0"/>
                <a:buChar char="•"/>
              </a:pPr>
              <a:r>
                <a:rPr lang="en-IN" sz="3500" dirty="0">
                  <a:latin typeface="+mj-lt"/>
                </a:rPr>
                <a:t>Personal Mode → for self-productivity and goal tracking</a:t>
              </a:r>
            </a:p>
            <a:p>
              <a:pPr marL="457200" indent="-457200">
                <a:buFont typeface="Arial" panose="020B0604020202020204" pitchFamily="34" charset="0"/>
                <a:buChar char="•"/>
              </a:pPr>
              <a:r>
                <a:rPr lang="en-IN" sz="3500" dirty="0">
                  <a:latin typeface="+mj-lt"/>
                </a:rPr>
                <a:t>Professional Mode → for team collaboration and accountability</a:t>
              </a:r>
            </a:p>
            <a:p>
              <a:pPr marL="457200" indent="-457200">
                <a:buFont typeface="Arial" panose="020B0604020202020204" pitchFamily="34" charset="0"/>
                <a:buChar char="•"/>
              </a:pPr>
              <a:r>
                <a:rPr lang="en-IN" sz="3500" dirty="0">
                  <a:latin typeface="+mj-lt"/>
                </a:rPr>
                <a:t>Task creation, assignment, and progress tracking</a:t>
              </a:r>
            </a:p>
            <a:p>
              <a:pPr marL="457200" indent="-457200">
                <a:buFont typeface="Arial" panose="020B0604020202020204" pitchFamily="34" charset="0"/>
                <a:buChar char="•"/>
              </a:pPr>
              <a:r>
                <a:rPr lang="en-IN" sz="3500" dirty="0">
                  <a:latin typeface="+mj-lt"/>
                </a:rPr>
                <a:t>Built-in communication and reminders</a:t>
              </a:r>
            </a:p>
            <a:p>
              <a:r>
                <a:rPr lang="en-IN" sz="3500" dirty="0">
                  <a:latin typeface="+mj-lt"/>
                </a:rPr>
                <a:t>The purpose of Tasker is simple: help people work smarter, not harder.</a:t>
              </a:r>
            </a:p>
            <a:p>
              <a:endParaRPr lang="en-IN" dirty="0"/>
            </a:p>
          </p:txBody>
        </p:sp>
        <p:sp>
          <p:nvSpPr>
            <p:cNvPr id="16" name="TextBox 12">
              <a:extLst>
                <a:ext uri="{FF2B5EF4-FFF2-40B4-BE49-F238E27FC236}">
                  <a16:creationId xmlns:a16="http://schemas.microsoft.com/office/drawing/2014/main" id="{FA8200AF-4257-6AB5-95BC-B2776535A585}"/>
                </a:ext>
              </a:extLst>
            </p:cNvPr>
            <p:cNvSpPr txBox="1"/>
            <p:nvPr/>
          </p:nvSpPr>
          <p:spPr>
            <a:xfrm>
              <a:off x="0" y="-66675"/>
              <a:ext cx="1886503" cy="408446"/>
            </a:xfrm>
            <a:prstGeom prst="rect">
              <a:avLst/>
            </a:prstGeom>
          </p:spPr>
          <p:txBody>
            <a:bodyPr lIns="50800" tIns="50800" rIns="50800" bIns="50800" rtlCol="0" anchor="ctr"/>
            <a:lstStyle/>
            <a:p>
              <a:pPr algn="ctr">
                <a:lnSpc>
                  <a:spcPts val="3018"/>
                </a:lnSpc>
              </a:pPr>
              <a:endParaRPr/>
            </a:p>
          </p:txBody>
        </p:sp>
      </p:grpSp>
      <p:sp>
        <p:nvSpPr>
          <p:cNvPr id="17" name="TextBox 16">
            <a:extLst>
              <a:ext uri="{FF2B5EF4-FFF2-40B4-BE49-F238E27FC236}">
                <a16:creationId xmlns:a16="http://schemas.microsoft.com/office/drawing/2014/main" id="{C5C560E9-856B-C5B1-048D-01B025550EEF}"/>
              </a:ext>
            </a:extLst>
          </p:cNvPr>
          <p:cNvSpPr txBox="1"/>
          <p:nvPr/>
        </p:nvSpPr>
        <p:spPr>
          <a:xfrm>
            <a:off x="10288013" y="478182"/>
            <a:ext cx="2857816" cy="2454218"/>
          </a:xfrm>
          <a:prstGeom prst="rect">
            <a:avLst/>
          </a:prstGeom>
          <a:noFill/>
          <a:ln w="76200">
            <a:solidFill>
              <a:schemeClr val="tx2">
                <a:lumMod val="60000"/>
                <a:lumOff val="40000"/>
              </a:schemeClr>
            </a:solidFill>
          </a:ln>
        </p:spPr>
        <p:txBody>
          <a:bodyPr wrap="square" rtlCol="0">
            <a:spAutoFit/>
          </a:bodyPr>
          <a:lstStyle/>
          <a:p>
            <a:r>
              <a:rPr lang="en-US" sz="15000" b="1" dirty="0"/>
              <a:t>📝</a:t>
            </a:r>
            <a:endParaRPr lang="en-IN" sz="15000" b="1"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68680" y="5835909"/>
            <a:ext cx="2422689" cy="3792034"/>
          </a:xfrm>
          <a:custGeom>
            <a:avLst/>
            <a:gdLst/>
            <a:ahLst/>
            <a:cxnLst/>
            <a:rect l="l" t="t" r="r" b="b"/>
            <a:pathLst>
              <a:path w="2422689" h="3792034">
                <a:moveTo>
                  <a:pt x="0" y="0"/>
                </a:moveTo>
                <a:lnTo>
                  <a:pt x="2422689" y="0"/>
                </a:lnTo>
                <a:lnTo>
                  <a:pt x="2422689" y="3792035"/>
                </a:lnTo>
                <a:lnTo>
                  <a:pt x="0" y="379203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1869391" y="4136073"/>
            <a:ext cx="6875809" cy="7191707"/>
          </a:xfrm>
          <a:custGeom>
            <a:avLst/>
            <a:gdLst/>
            <a:ahLst/>
            <a:cxnLst/>
            <a:rect l="l" t="t" r="r" b="b"/>
            <a:pathLst>
              <a:path w="6875809" h="7191707">
                <a:moveTo>
                  <a:pt x="0" y="0"/>
                </a:moveTo>
                <a:lnTo>
                  <a:pt x="6875809" y="0"/>
                </a:lnTo>
                <a:lnTo>
                  <a:pt x="6875809" y="7191707"/>
                </a:lnTo>
                <a:lnTo>
                  <a:pt x="0" y="719170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4" name="Group 4"/>
          <p:cNvGrpSpPr/>
          <p:nvPr/>
        </p:nvGrpSpPr>
        <p:grpSpPr>
          <a:xfrm>
            <a:off x="16023195" y="192359"/>
            <a:ext cx="1887307" cy="1719270"/>
            <a:chOff x="0" y="0"/>
            <a:chExt cx="2516409" cy="2292361"/>
          </a:xfrm>
        </p:grpSpPr>
        <p:sp>
          <p:nvSpPr>
            <p:cNvPr id="5" name="Freeform 5"/>
            <p:cNvSpPr/>
            <p:nvPr/>
          </p:nvSpPr>
          <p:spPr>
            <a:xfrm>
              <a:off x="0" y="0"/>
              <a:ext cx="2516409" cy="2292361"/>
            </a:xfrm>
            <a:custGeom>
              <a:avLst/>
              <a:gdLst/>
              <a:ahLst/>
              <a:cxnLst/>
              <a:rect l="l" t="t" r="r" b="b"/>
              <a:pathLst>
                <a:path w="2516409" h="2292361">
                  <a:moveTo>
                    <a:pt x="0" y="0"/>
                  </a:moveTo>
                  <a:lnTo>
                    <a:pt x="2516409" y="0"/>
                  </a:lnTo>
                  <a:lnTo>
                    <a:pt x="2516409" y="2292361"/>
                  </a:lnTo>
                  <a:lnTo>
                    <a:pt x="0" y="2292361"/>
                  </a:lnTo>
                  <a:lnTo>
                    <a:pt x="0" y="0"/>
                  </a:lnTo>
                  <a:close/>
                </a:path>
              </a:pathLst>
            </a:custGeom>
            <a:blipFill>
              <a:blip r:embed="rId6"/>
              <a:stretch>
                <a:fillRect l="-13518" t="-15546" r="-13518"/>
              </a:stretch>
            </a:blipFill>
          </p:spPr>
        </p:sp>
        <p:sp>
          <p:nvSpPr>
            <p:cNvPr id="6" name="TextBox 6"/>
            <p:cNvSpPr txBox="1"/>
            <p:nvPr/>
          </p:nvSpPr>
          <p:spPr>
            <a:xfrm>
              <a:off x="0" y="1742128"/>
              <a:ext cx="2516409" cy="550233"/>
            </a:xfrm>
            <a:prstGeom prst="rect">
              <a:avLst/>
            </a:prstGeom>
          </p:spPr>
          <p:txBody>
            <a:bodyPr lIns="0" tIns="0" rIns="0" bIns="0" rtlCol="0" anchor="t">
              <a:spAutoFit/>
            </a:bodyPr>
            <a:lstStyle/>
            <a:p>
              <a:pPr algn="ctr">
                <a:lnSpc>
                  <a:spcPts val="3348"/>
                </a:lnSpc>
              </a:pPr>
              <a:endParaRPr/>
            </a:p>
          </p:txBody>
        </p:sp>
      </p:grpSp>
      <p:sp>
        <p:nvSpPr>
          <p:cNvPr id="7" name="Freeform 7"/>
          <p:cNvSpPr/>
          <p:nvPr/>
        </p:nvSpPr>
        <p:spPr>
          <a:xfrm flipH="1" flipV="1">
            <a:off x="-184363" y="-742065"/>
            <a:ext cx="7321151" cy="7657510"/>
          </a:xfrm>
          <a:custGeom>
            <a:avLst/>
            <a:gdLst/>
            <a:ahLst/>
            <a:cxnLst/>
            <a:rect l="l" t="t" r="r" b="b"/>
            <a:pathLst>
              <a:path w="7321151" h="7657510">
                <a:moveTo>
                  <a:pt x="7321151" y="7657510"/>
                </a:moveTo>
                <a:lnTo>
                  <a:pt x="0" y="7657510"/>
                </a:lnTo>
                <a:lnTo>
                  <a:pt x="0" y="0"/>
                </a:lnTo>
                <a:lnTo>
                  <a:pt x="7321151" y="0"/>
                </a:lnTo>
                <a:lnTo>
                  <a:pt x="7321151" y="7657510"/>
                </a:lnTo>
                <a:close/>
              </a:path>
            </a:pathLst>
          </a:custGeom>
          <a:blipFill>
            <a:blip r:embed="rId4">
              <a:alphaModFix amt="43999"/>
              <a:extLst>
                <a:ext uri="{96DAC541-7B7A-43D3-8B79-37D633B846F1}">
                  <asvg:svgBlip xmlns:asvg="http://schemas.microsoft.com/office/drawing/2016/SVG/main" r:embed="rId5"/>
                </a:ext>
              </a:extLst>
            </a:blip>
            <a:stretch>
              <a:fillRect/>
            </a:stretch>
          </a:blipFill>
        </p:spPr>
      </p:sp>
      <p:grpSp>
        <p:nvGrpSpPr>
          <p:cNvPr id="8" name="Group 8"/>
          <p:cNvGrpSpPr/>
          <p:nvPr/>
        </p:nvGrpSpPr>
        <p:grpSpPr>
          <a:xfrm>
            <a:off x="1154009" y="839742"/>
            <a:ext cx="9156786" cy="1195386"/>
            <a:chOff x="0" y="0"/>
            <a:chExt cx="2411664" cy="314834"/>
          </a:xfrm>
        </p:grpSpPr>
        <p:sp>
          <p:nvSpPr>
            <p:cNvPr id="9" name="Freeform 9"/>
            <p:cNvSpPr/>
            <p:nvPr/>
          </p:nvSpPr>
          <p:spPr>
            <a:xfrm>
              <a:off x="0" y="0"/>
              <a:ext cx="2411664" cy="314834"/>
            </a:xfrm>
            <a:custGeom>
              <a:avLst/>
              <a:gdLst/>
              <a:ahLst/>
              <a:cxnLst/>
              <a:rect l="l" t="t" r="r" b="b"/>
              <a:pathLst>
                <a:path w="2411664" h="314834">
                  <a:moveTo>
                    <a:pt x="0" y="0"/>
                  </a:moveTo>
                  <a:lnTo>
                    <a:pt x="2411664" y="0"/>
                  </a:lnTo>
                  <a:lnTo>
                    <a:pt x="2411664" y="314834"/>
                  </a:lnTo>
                  <a:lnTo>
                    <a:pt x="0" y="314834"/>
                  </a:lnTo>
                  <a:close/>
                </a:path>
              </a:pathLst>
            </a:custGeom>
            <a:solidFill>
              <a:srgbClr val="FFFFFF"/>
            </a:solidFill>
            <a:ln w="47625" cap="sq">
              <a:solidFill>
                <a:srgbClr val="6366F1"/>
              </a:solidFill>
              <a:prstDash val="solid"/>
              <a:miter/>
            </a:ln>
          </p:spPr>
        </p:sp>
        <p:sp>
          <p:nvSpPr>
            <p:cNvPr id="10" name="TextBox 10"/>
            <p:cNvSpPr txBox="1"/>
            <p:nvPr/>
          </p:nvSpPr>
          <p:spPr>
            <a:xfrm>
              <a:off x="0" y="-66675"/>
              <a:ext cx="2411664" cy="381509"/>
            </a:xfrm>
            <a:prstGeom prst="rect">
              <a:avLst/>
            </a:prstGeom>
          </p:spPr>
          <p:txBody>
            <a:bodyPr lIns="50800" tIns="50800" rIns="50800" bIns="50800" rtlCol="0" anchor="ctr"/>
            <a:lstStyle/>
            <a:p>
              <a:pPr algn="ctr">
                <a:lnSpc>
                  <a:spcPts val="3018"/>
                </a:lnSpc>
              </a:pPr>
              <a:endParaRPr/>
            </a:p>
          </p:txBody>
        </p:sp>
      </p:grpSp>
      <p:sp>
        <p:nvSpPr>
          <p:cNvPr id="11" name="Freeform 11"/>
          <p:cNvSpPr/>
          <p:nvPr/>
        </p:nvSpPr>
        <p:spPr>
          <a:xfrm>
            <a:off x="13450100" y="3274930"/>
            <a:ext cx="4837899" cy="575477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7">
              <a:alphaModFix amt="34000"/>
              <a:extLst>
                <a:ext uri="{96DAC541-7B7A-43D3-8B79-37D633B846F1}">
                  <asvg:svgBlip xmlns:asvg="http://schemas.microsoft.com/office/drawing/2016/SVG/main" r:embed="rId8"/>
                </a:ext>
              </a:extLst>
            </a:blip>
            <a:stretch>
              <a:fillRect/>
            </a:stretch>
          </a:blipFill>
        </p:spPr>
      </p:sp>
      <p:sp>
        <p:nvSpPr>
          <p:cNvPr id="12" name="TextBox 12"/>
          <p:cNvSpPr txBox="1"/>
          <p:nvPr/>
        </p:nvSpPr>
        <p:spPr>
          <a:xfrm>
            <a:off x="16023195" y="2468375"/>
            <a:ext cx="2722005" cy="618315"/>
          </a:xfrm>
          <a:prstGeom prst="rect">
            <a:avLst/>
          </a:prstGeom>
        </p:spPr>
        <p:txBody>
          <a:bodyPr lIns="0" tIns="0" rIns="0" bIns="0" rtlCol="0" anchor="t">
            <a:spAutoFit/>
          </a:bodyPr>
          <a:lstStyle/>
          <a:p>
            <a:pPr algn="ctr">
              <a:lnSpc>
                <a:spcPts val="4829"/>
              </a:lnSpc>
            </a:pPr>
            <a:endParaRPr/>
          </a:p>
        </p:txBody>
      </p:sp>
      <p:sp>
        <p:nvSpPr>
          <p:cNvPr id="13" name="TextBox 13"/>
          <p:cNvSpPr txBox="1"/>
          <p:nvPr/>
        </p:nvSpPr>
        <p:spPr>
          <a:xfrm>
            <a:off x="1322368" y="942975"/>
            <a:ext cx="8820068" cy="809465"/>
          </a:xfrm>
          <a:prstGeom prst="rect">
            <a:avLst/>
          </a:prstGeom>
        </p:spPr>
        <p:txBody>
          <a:bodyPr lIns="0" tIns="0" rIns="0" bIns="0" rtlCol="0" anchor="t">
            <a:spAutoFit/>
          </a:bodyPr>
          <a:lstStyle/>
          <a:p>
            <a:pPr algn="ctr">
              <a:lnSpc>
                <a:spcPts val="6681"/>
              </a:lnSpc>
            </a:pPr>
            <a:r>
              <a:rPr lang="en-US" sz="4772" b="1">
                <a:solidFill>
                  <a:srgbClr val="1800AD"/>
                </a:solidFill>
                <a:latin typeface="Canva Sans Bold"/>
                <a:ea typeface="Canva Sans Bold"/>
                <a:cs typeface="Canva Sans Bold"/>
                <a:sym typeface="Canva Sans Bold"/>
              </a:rPr>
              <a:t>Techstack And Dependencies </a:t>
            </a:r>
          </a:p>
        </p:txBody>
      </p:sp>
      <p:grpSp>
        <p:nvGrpSpPr>
          <p:cNvPr id="14" name="Group 10">
            <a:extLst>
              <a:ext uri="{FF2B5EF4-FFF2-40B4-BE49-F238E27FC236}">
                <a16:creationId xmlns:a16="http://schemas.microsoft.com/office/drawing/2014/main" id="{8B2429D3-ACC6-3973-B898-3F41A37A89C0}"/>
              </a:ext>
            </a:extLst>
          </p:cNvPr>
          <p:cNvGrpSpPr/>
          <p:nvPr/>
        </p:nvGrpSpPr>
        <p:grpSpPr>
          <a:xfrm>
            <a:off x="1028700" y="2051438"/>
            <a:ext cx="11812697" cy="7495017"/>
            <a:chOff x="0" y="-66675"/>
            <a:chExt cx="1886503" cy="408446"/>
          </a:xfrm>
        </p:grpSpPr>
        <p:sp>
          <p:nvSpPr>
            <p:cNvPr id="15" name="Freeform 11">
              <a:extLst>
                <a:ext uri="{FF2B5EF4-FFF2-40B4-BE49-F238E27FC236}">
                  <a16:creationId xmlns:a16="http://schemas.microsoft.com/office/drawing/2014/main" id="{2CD924AD-DDAF-17D6-87FA-E0A8DD0BB9EC}"/>
                </a:ext>
              </a:extLst>
            </p:cNvPr>
            <p:cNvSpPr/>
            <p:nvPr/>
          </p:nvSpPr>
          <p:spPr>
            <a:xfrm>
              <a:off x="0" y="0"/>
              <a:ext cx="1886503" cy="341771"/>
            </a:xfrm>
            <a:custGeom>
              <a:avLst/>
              <a:gdLst/>
              <a:ahLst/>
              <a:cxnLst/>
              <a:rect l="l" t="t" r="r" b="b"/>
              <a:pathLst>
                <a:path w="1886503" h="341771">
                  <a:moveTo>
                    <a:pt x="0" y="0"/>
                  </a:moveTo>
                  <a:lnTo>
                    <a:pt x="1886503" y="0"/>
                  </a:lnTo>
                  <a:lnTo>
                    <a:pt x="1886503" y="341771"/>
                  </a:lnTo>
                  <a:lnTo>
                    <a:pt x="0" y="341771"/>
                  </a:lnTo>
                  <a:close/>
                </a:path>
              </a:pathLst>
            </a:custGeom>
            <a:solidFill>
              <a:srgbClr val="FFFFFF"/>
            </a:solidFill>
            <a:ln w="47625" cap="sq">
              <a:solidFill>
                <a:srgbClr val="6366F1"/>
              </a:solidFill>
              <a:prstDash val="solid"/>
              <a:miter/>
            </a:ln>
          </p:spPr>
          <p:txBody>
            <a:bodyPr/>
            <a:lstStyle/>
            <a:p>
              <a:r>
                <a:rPr lang="en-IN" sz="3500" b="1" dirty="0"/>
                <a:t>Technology Behind Tasker</a:t>
              </a:r>
              <a:endParaRPr lang="en-IN" sz="3500" dirty="0"/>
            </a:p>
            <a:p>
              <a:r>
                <a:rPr lang="en-IN" sz="3500" dirty="0"/>
                <a:t>Tasker is built using modern full-stack technologies to ensure performance, security, and scalability.</a:t>
              </a:r>
            </a:p>
            <a:p>
              <a:r>
                <a:rPr lang="en-IN" sz="3500" b="1" dirty="0"/>
                <a:t>Core Stack</a:t>
              </a:r>
              <a:endParaRPr lang="en-IN" sz="3500" dirty="0"/>
            </a:p>
            <a:p>
              <a:pPr marL="457200" indent="-457200">
                <a:buFont typeface="Arial" panose="020B0604020202020204" pitchFamily="34" charset="0"/>
                <a:buChar char="•"/>
              </a:pPr>
              <a:r>
                <a:rPr lang="en-IN" sz="3500" dirty="0"/>
                <a:t>Frontend: HTML, CSS, JavaScript, React</a:t>
              </a:r>
            </a:p>
            <a:p>
              <a:pPr marL="457200" indent="-457200">
                <a:buFont typeface="Arial" panose="020B0604020202020204" pitchFamily="34" charset="0"/>
                <a:buChar char="•"/>
              </a:pPr>
              <a:r>
                <a:rPr lang="en-IN" sz="3500" dirty="0"/>
                <a:t>Backend: Node.js, Express</a:t>
              </a:r>
            </a:p>
            <a:p>
              <a:pPr marL="457200" indent="-457200">
                <a:buFont typeface="Arial" panose="020B0604020202020204" pitchFamily="34" charset="0"/>
                <a:buChar char="•"/>
              </a:pPr>
              <a:r>
                <a:rPr lang="en-IN" sz="3500" dirty="0"/>
                <a:t>Database: MongoDB</a:t>
              </a:r>
            </a:p>
            <a:p>
              <a:r>
                <a:rPr lang="en-IN" sz="3500" b="1" dirty="0"/>
                <a:t>Supporting Tools</a:t>
              </a:r>
              <a:endParaRPr lang="en-IN" sz="3500" dirty="0"/>
            </a:p>
            <a:p>
              <a:pPr marL="457200" indent="-457200">
                <a:buFont typeface="Arial" panose="020B0604020202020204" pitchFamily="34" charset="0"/>
                <a:buChar char="•"/>
              </a:pPr>
              <a:r>
                <a:rPr lang="en-IN" sz="3500" dirty="0"/>
                <a:t>Chart libraries for statistics and insights</a:t>
              </a:r>
            </a:p>
            <a:p>
              <a:pPr marL="457200" indent="-457200">
                <a:buFont typeface="Arial" panose="020B0604020202020204" pitchFamily="34" charset="0"/>
                <a:buChar char="•"/>
              </a:pPr>
              <a:r>
                <a:rPr lang="en-IN" sz="3500" dirty="0"/>
                <a:t>Calendar components for deadline tracking</a:t>
              </a:r>
            </a:p>
            <a:p>
              <a:pPr marL="457200" indent="-457200">
                <a:buFont typeface="Arial" panose="020B0604020202020204" pitchFamily="34" charset="0"/>
                <a:buChar char="•"/>
              </a:pPr>
              <a:r>
                <a:rPr lang="en-IN" sz="3500" dirty="0"/>
                <a:t>Real-time services for chat and notification</a:t>
              </a:r>
            </a:p>
            <a:p>
              <a:endParaRPr lang="en-IN" dirty="0"/>
            </a:p>
          </p:txBody>
        </p:sp>
        <p:sp>
          <p:nvSpPr>
            <p:cNvPr id="16" name="TextBox 12">
              <a:extLst>
                <a:ext uri="{FF2B5EF4-FFF2-40B4-BE49-F238E27FC236}">
                  <a16:creationId xmlns:a16="http://schemas.microsoft.com/office/drawing/2014/main" id="{1414F911-E321-C754-B0B3-2C008C534862}"/>
                </a:ext>
              </a:extLst>
            </p:cNvPr>
            <p:cNvSpPr txBox="1"/>
            <p:nvPr/>
          </p:nvSpPr>
          <p:spPr>
            <a:xfrm>
              <a:off x="0" y="-66675"/>
              <a:ext cx="1886503" cy="408446"/>
            </a:xfrm>
            <a:prstGeom prst="rect">
              <a:avLst/>
            </a:prstGeom>
          </p:spPr>
          <p:txBody>
            <a:bodyPr lIns="50800" tIns="50800" rIns="50800" bIns="50800" rtlCol="0" anchor="ctr"/>
            <a:lstStyle/>
            <a:p>
              <a:pPr algn="ctr">
                <a:lnSpc>
                  <a:spcPts val="3018"/>
                </a:lnSpc>
              </a:pPr>
              <a:endParaRPr/>
            </a:p>
          </p:txBody>
        </p:sp>
      </p:grpSp>
      <p:sp>
        <p:nvSpPr>
          <p:cNvPr id="20" name="TextBox 19">
            <a:extLst>
              <a:ext uri="{FF2B5EF4-FFF2-40B4-BE49-F238E27FC236}">
                <a16:creationId xmlns:a16="http://schemas.microsoft.com/office/drawing/2014/main" id="{8705C264-B7BC-5250-A48E-4AA7E40976B1}"/>
              </a:ext>
            </a:extLst>
          </p:cNvPr>
          <p:cNvSpPr txBox="1"/>
          <p:nvPr/>
        </p:nvSpPr>
        <p:spPr>
          <a:xfrm>
            <a:off x="11205803" y="329219"/>
            <a:ext cx="2848657" cy="2454218"/>
          </a:xfrm>
          <a:prstGeom prst="rect">
            <a:avLst/>
          </a:prstGeom>
          <a:noFill/>
          <a:ln w="76200">
            <a:solidFill>
              <a:schemeClr val="tx2">
                <a:lumMod val="60000"/>
                <a:lumOff val="40000"/>
              </a:schemeClr>
            </a:solidFill>
          </a:ln>
        </p:spPr>
        <p:txBody>
          <a:bodyPr wrap="square" rtlCol="0">
            <a:spAutoFit/>
          </a:bodyPr>
          <a:lstStyle/>
          <a:p>
            <a:r>
              <a:rPr lang="en-US" sz="15000" b="1" dirty="0"/>
              <a:t>⚖️</a:t>
            </a:r>
            <a:endParaRPr lang="en-IN" sz="15000" b="1"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847700" y="6604631"/>
            <a:ext cx="1695400" cy="2653669"/>
          </a:xfrm>
          <a:custGeom>
            <a:avLst/>
            <a:gdLst/>
            <a:ahLst/>
            <a:cxnLst/>
            <a:rect l="l" t="t" r="r" b="b"/>
            <a:pathLst>
              <a:path w="1695400" h="2653669">
                <a:moveTo>
                  <a:pt x="0" y="0"/>
                </a:moveTo>
                <a:lnTo>
                  <a:pt x="1695400" y="0"/>
                </a:lnTo>
                <a:lnTo>
                  <a:pt x="1695400" y="2653669"/>
                </a:lnTo>
                <a:lnTo>
                  <a:pt x="0" y="265366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2106618" y="3488336"/>
            <a:ext cx="6959186" cy="7278915"/>
          </a:xfrm>
          <a:custGeom>
            <a:avLst/>
            <a:gdLst/>
            <a:ahLst/>
            <a:cxnLst/>
            <a:rect l="l" t="t" r="r" b="b"/>
            <a:pathLst>
              <a:path w="6959186" h="7278915">
                <a:moveTo>
                  <a:pt x="0" y="0"/>
                </a:moveTo>
                <a:lnTo>
                  <a:pt x="6959186" y="0"/>
                </a:lnTo>
                <a:lnTo>
                  <a:pt x="6959186" y="7278914"/>
                </a:lnTo>
                <a:lnTo>
                  <a:pt x="0" y="727891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flipH="1" flipV="1">
            <a:off x="-31963" y="-589665"/>
            <a:ext cx="7321151" cy="7657510"/>
          </a:xfrm>
          <a:custGeom>
            <a:avLst/>
            <a:gdLst/>
            <a:ahLst/>
            <a:cxnLst/>
            <a:rect l="l" t="t" r="r" b="b"/>
            <a:pathLst>
              <a:path w="7321151" h="7657510">
                <a:moveTo>
                  <a:pt x="7321151" y="7657510"/>
                </a:moveTo>
                <a:lnTo>
                  <a:pt x="0" y="7657510"/>
                </a:lnTo>
                <a:lnTo>
                  <a:pt x="0" y="0"/>
                </a:lnTo>
                <a:lnTo>
                  <a:pt x="7321151" y="0"/>
                </a:lnTo>
                <a:lnTo>
                  <a:pt x="7321151" y="7657510"/>
                </a:lnTo>
                <a:close/>
              </a:path>
            </a:pathLst>
          </a:custGeom>
          <a:blipFill>
            <a:blip r:embed="rId4">
              <a:alphaModFix amt="18999"/>
              <a:extLst>
                <a:ext uri="{96DAC541-7B7A-43D3-8B79-37D633B846F1}">
                  <asvg:svgBlip xmlns:asvg="http://schemas.microsoft.com/office/drawing/2016/SVG/main" r:embed="rId5"/>
                </a:ext>
              </a:extLst>
            </a:blip>
            <a:stretch>
              <a:fillRect/>
            </a:stretch>
          </a:blipFill>
        </p:spPr>
      </p:sp>
      <p:grpSp>
        <p:nvGrpSpPr>
          <p:cNvPr id="6" name="Group 6"/>
          <p:cNvGrpSpPr/>
          <p:nvPr/>
        </p:nvGrpSpPr>
        <p:grpSpPr>
          <a:xfrm>
            <a:off x="1028700" y="677513"/>
            <a:ext cx="8978113" cy="1098250"/>
            <a:chOff x="0" y="0"/>
            <a:chExt cx="1682564" cy="205820"/>
          </a:xfrm>
        </p:grpSpPr>
        <p:sp>
          <p:nvSpPr>
            <p:cNvPr id="7" name="Freeform 7"/>
            <p:cNvSpPr/>
            <p:nvPr/>
          </p:nvSpPr>
          <p:spPr>
            <a:xfrm>
              <a:off x="0" y="0"/>
              <a:ext cx="1682564" cy="205820"/>
            </a:xfrm>
            <a:custGeom>
              <a:avLst/>
              <a:gdLst/>
              <a:ahLst/>
              <a:cxnLst/>
              <a:rect l="l" t="t" r="r" b="b"/>
              <a:pathLst>
                <a:path w="1682564" h="205820">
                  <a:moveTo>
                    <a:pt x="0" y="0"/>
                  </a:moveTo>
                  <a:lnTo>
                    <a:pt x="1682564" y="0"/>
                  </a:lnTo>
                  <a:lnTo>
                    <a:pt x="1682564" y="205820"/>
                  </a:lnTo>
                  <a:lnTo>
                    <a:pt x="0" y="205820"/>
                  </a:lnTo>
                  <a:close/>
                </a:path>
              </a:pathLst>
            </a:custGeom>
            <a:solidFill>
              <a:srgbClr val="FFFFFF"/>
            </a:solidFill>
            <a:ln w="47625" cap="sq">
              <a:solidFill>
                <a:srgbClr val="6366F1"/>
              </a:solidFill>
              <a:prstDash val="solid"/>
              <a:miter/>
            </a:ln>
          </p:spPr>
        </p:sp>
        <p:sp>
          <p:nvSpPr>
            <p:cNvPr id="8" name="TextBox 8"/>
            <p:cNvSpPr txBox="1"/>
            <p:nvPr/>
          </p:nvSpPr>
          <p:spPr>
            <a:xfrm>
              <a:off x="0" y="-66675"/>
              <a:ext cx="1682564" cy="272495"/>
            </a:xfrm>
            <a:prstGeom prst="rect">
              <a:avLst/>
            </a:prstGeom>
          </p:spPr>
          <p:txBody>
            <a:bodyPr lIns="71392" tIns="71392" rIns="71392" bIns="71392" rtlCol="0" anchor="ctr"/>
            <a:lstStyle/>
            <a:p>
              <a:pPr algn="ctr">
                <a:lnSpc>
                  <a:spcPts val="3018"/>
                </a:lnSpc>
              </a:pPr>
              <a:endParaRPr/>
            </a:p>
          </p:txBody>
        </p:sp>
      </p:grpSp>
      <p:sp>
        <p:nvSpPr>
          <p:cNvPr id="9" name="TextBox 9"/>
          <p:cNvSpPr txBox="1"/>
          <p:nvPr/>
        </p:nvSpPr>
        <p:spPr>
          <a:xfrm>
            <a:off x="-2016943" y="629556"/>
            <a:ext cx="14818543" cy="863599"/>
          </a:xfrm>
          <a:prstGeom prst="rect">
            <a:avLst/>
          </a:prstGeom>
        </p:spPr>
        <p:txBody>
          <a:bodyPr lIns="0" tIns="0" rIns="0" bIns="0" rtlCol="0" anchor="t">
            <a:spAutoFit/>
          </a:bodyPr>
          <a:lstStyle/>
          <a:p>
            <a:pPr algn="ctr">
              <a:lnSpc>
                <a:spcPts val="7000"/>
              </a:lnSpc>
            </a:pPr>
            <a:r>
              <a:rPr lang="en-US" sz="5000" b="1" dirty="0">
                <a:solidFill>
                  <a:srgbClr val="1800AD"/>
                </a:solidFill>
                <a:latin typeface="Canva Sans Bold"/>
                <a:ea typeface="Canva Sans Bold"/>
                <a:cs typeface="Canva Sans Bold"/>
                <a:sym typeface="Canva Sans Bold"/>
              </a:rPr>
              <a:t>Strengths and Weaknesses</a:t>
            </a:r>
          </a:p>
        </p:txBody>
      </p:sp>
      <p:grpSp>
        <p:nvGrpSpPr>
          <p:cNvPr id="10" name="Group 10"/>
          <p:cNvGrpSpPr/>
          <p:nvPr/>
        </p:nvGrpSpPr>
        <p:grpSpPr>
          <a:xfrm>
            <a:off x="16032893" y="192359"/>
            <a:ext cx="2022877" cy="1842770"/>
            <a:chOff x="0" y="0"/>
            <a:chExt cx="2697170" cy="2457027"/>
          </a:xfrm>
        </p:grpSpPr>
        <p:sp>
          <p:nvSpPr>
            <p:cNvPr id="11" name="Freeform 11"/>
            <p:cNvSpPr/>
            <p:nvPr/>
          </p:nvSpPr>
          <p:spPr>
            <a:xfrm>
              <a:off x="0" y="0"/>
              <a:ext cx="2532253" cy="2330204"/>
            </a:xfrm>
            <a:custGeom>
              <a:avLst/>
              <a:gdLst/>
              <a:ahLst/>
              <a:cxnLst/>
              <a:rect l="l" t="t" r="r" b="b"/>
              <a:pathLst>
                <a:path w="2532253" h="2330204">
                  <a:moveTo>
                    <a:pt x="0" y="0"/>
                  </a:moveTo>
                  <a:lnTo>
                    <a:pt x="2532253" y="0"/>
                  </a:lnTo>
                  <a:lnTo>
                    <a:pt x="2532253" y="2330204"/>
                  </a:lnTo>
                  <a:lnTo>
                    <a:pt x="0" y="2330204"/>
                  </a:lnTo>
                  <a:lnTo>
                    <a:pt x="0" y="0"/>
                  </a:lnTo>
                  <a:close/>
                </a:path>
              </a:pathLst>
            </a:custGeom>
            <a:blipFill>
              <a:blip r:embed="rId6"/>
              <a:stretch>
                <a:fillRect l="-10650" t="-15546" r="-17674"/>
              </a:stretch>
            </a:blipFill>
          </p:spPr>
        </p:sp>
        <p:sp>
          <p:nvSpPr>
            <p:cNvPr id="12" name="TextBox 12"/>
            <p:cNvSpPr txBox="1"/>
            <p:nvPr/>
          </p:nvSpPr>
          <p:spPr>
            <a:xfrm>
              <a:off x="0" y="1862534"/>
              <a:ext cx="2697170" cy="594493"/>
            </a:xfrm>
            <a:prstGeom prst="rect">
              <a:avLst/>
            </a:prstGeom>
          </p:spPr>
          <p:txBody>
            <a:bodyPr lIns="0" tIns="0" rIns="0" bIns="0" rtlCol="0" anchor="t">
              <a:spAutoFit/>
            </a:bodyPr>
            <a:lstStyle/>
            <a:p>
              <a:pPr algn="ctr">
                <a:lnSpc>
                  <a:spcPts val="3588"/>
                </a:lnSpc>
              </a:pPr>
              <a:endParaRPr/>
            </a:p>
          </p:txBody>
        </p:sp>
      </p:grpSp>
      <p:sp>
        <p:nvSpPr>
          <p:cNvPr id="13" name="Freeform 11">
            <a:extLst>
              <a:ext uri="{FF2B5EF4-FFF2-40B4-BE49-F238E27FC236}">
                <a16:creationId xmlns:a16="http://schemas.microsoft.com/office/drawing/2014/main" id="{67B71364-B378-EBEA-126C-AF7400098596}"/>
              </a:ext>
            </a:extLst>
          </p:cNvPr>
          <p:cNvSpPr/>
          <p:nvPr/>
        </p:nvSpPr>
        <p:spPr>
          <a:xfrm>
            <a:off x="987418" y="2069401"/>
            <a:ext cx="16573500" cy="8217599"/>
          </a:xfrm>
          <a:custGeom>
            <a:avLst/>
            <a:gdLst/>
            <a:ahLst/>
            <a:cxnLst/>
            <a:rect l="l" t="t" r="r" b="b"/>
            <a:pathLst>
              <a:path w="1886503" h="341771">
                <a:moveTo>
                  <a:pt x="0" y="0"/>
                </a:moveTo>
                <a:lnTo>
                  <a:pt x="1886503" y="0"/>
                </a:lnTo>
                <a:lnTo>
                  <a:pt x="1886503" y="341771"/>
                </a:lnTo>
                <a:lnTo>
                  <a:pt x="0" y="341771"/>
                </a:lnTo>
                <a:close/>
              </a:path>
            </a:pathLst>
          </a:custGeom>
          <a:solidFill>
            <a:srgbClr val="FFFFFF"/>
          </a:solidFill>
          <a:ln w="47625" cap="sq">
            <a:solidFill>
              <a:srgbClr val="6366F1"/>
            </a:solidFill>
            <a:prstDash val="solid"/>
            <a:miter/>
          </a:ln>
        </p:spPr>
        <p:txBody>
          <a:bodyPr/>
          <a:lstStyle/>
          <a:p>
            <a:r>
              <a:rPr lang="en-IN" sz="3600" b="1" dirty="0"/>
              <a:t>Title: Strengths, Weakness &amp; Improvements</a:t>
            </a:r>
            <a:endParaRPr lang="en-IN" sz="3600" dirty="0"/>
          </a:p>
          <a:p>
            <a:r>
              <a:rPr lang="en-IN" sz="3600" dirty="0"/>
              <a:t>Tasker’s biggest strength is its clear separation between personal productivity and professional collaboration. It also emphasizes accountability through features like audit trails, statistics, and dashboards.</a:t>
            </a:r>
          </a:p>
          <a:p>
            <a:r>
              <a:rPr lang="en-IN" sz="3600" b="1" dirty="0"/>
              <a:t>Strengths</a:t>
            </a:r>
            <a:endParaRPr lang="en-IN" sz="3600" dirty="0"/>
          </a:p>
          <a:p>
            <a:pPr marL="571500" indent="-571500">
              <a:buFont typeface="Arial" panose="020B0604020202020204" pitchFamily="34" charset="0"/>
              <a:buChar char="•"/>
            </a:pPr>
            <a:r>
              <a:rPr lang="en-IN" sz="3600" dirty="0"/>
              <a:t>Dual-mode system (Personal + Professional)</a:t>
            </a:r>
          </a:p>
          <a:p>
            <a:pPr marL="571500" indent="-571500">
              <a:buFont typeface="Arial" panose="020B0604020202020204" pitchFamily="34" charset="0"/>
              <a:buChar char="•"/>
            </a:pPr>
            <a:r>
              <a:rPr lang="en-IN" sz="3600" dirty="0"/>
              <a:t>Built-in accountability and transparency</a:t>
            </a:r>
          </a:p>
          <a:p>
            <a:pPr marL="571500" indent="-571500">
              <a:buFont typeface="Arial" panose="020B0604020202020204" pitchFamily="34" charset="0"/>
              <a:buChar char="•"/>
            </a:pPr>
            <a:r>
              <a:rPr lang="en-IN" sz="3600" dirty="0"/>
              <a:t>Clean, visual task tracking</a:t>
            </a:r>
          </a:p>
          <a:p>
            <a:r>
              <a:rPr lang="en-IN" sz="3600" b="1" dirty="0"/>
              <a:t>Current Gaps</a:t>
            </a:r>
            <a:endParaRPr lang="en-IN" sz="3600" dirty="0"/>
          </a:p>
          <a:p>
            <a:pPr marL="571500" indent="-571500">
              <a:buFont typeface="Arial" panose="020B0604020202020204" pitchFamily="34" charset="0"/>
              <a:buChar char="•"/>
            </a:pPr>
            <a:r>
              <a:rPr lang="en-IN" sz="3600" dirty="0"/>
              <a:t>Limited AI automation</a:t>
            </a:r>
          </a:p>
          <a:p>
            <a:pPr marL="571500" indent="-571500">
              <a:buFont typeface="Arial" panose="020B0604020202020204" pitchFamily="34" charset="0"/>
              <a:buChar char="•"/>
            </a:pPr>
            <a:r>
              <a:rPr lang="en-IN" sz="3600" dirty="0"/>
              <a:t>No mobile app yet</a:t>
            </a:r>
          </a:p>
          <a:p>
            <a:r>
              <a:rPr lang="en-IN" sz="3600" b="1" dirty="0"/>
              <a:t>How We Bridge the Gap</a:t>
            </a:r>
            <a:endParaRPr lang="en-IN" sz="3600" dirty="0"/>
          </a:p>
          <a:p>
            <a:pPr marL="571500" indent="-571500">
              <a:buFont typeface="Arial" panose="020B0604020202020204" pitchFamily="34" charset="0"/>
              <a:buChar char="•"/>
            </a:pPr>
            <a:r>
              <a:rPr lang="en-IN" sz="3600" dirty="0"/>
              <a:t>Improve smart scheduling and recommendations</a:t>
            </a:r>
          </a:p>
          <a:p>
            <a:pPr marL="571500" indent="-571500">
              <a:buFont typeface="Arial" panose="020B0604020202020204" pitchFamily="34" charset="0"/>
              <a:buChar char="•"/>
            </a:pPr>
            <a:r>
              <a:rPr lang="en-IN" sz="3600" dirty="0"/>
              <a:t>Enhance UI/UX performance</a:t>
            </a:r>
          </a:p>
          <a:p>
            <a:pPr marL="571500" indent="-571500">
              <a:buFont typeface="Arial" panose="020B0604020202020204" pitchFamily="34" charset="0"/>
              <a:buChar char="•"/>
            </a:pPr>
            <a:r>
              <a:rPr lang="en-IN" sz="3600" dirty="0"/>
              <a:t>Expand to mobile and cloud platforms</a:t>
            </a:r>
          </a:p>
          <a:p>
            <a:endParaRPr lang="en-IN" dirty="0"/>
          </a:p>
        </p:txBody>
      </p:sp>
      <p:sp>
        <p:nvSpPr>
          <p:cNvPr id="14" name="TextBox 13">
            <a:extLst>
              <a:ext uri="{FF2B5EF4-FFF2-40B4-BE49-F238E27FC236}">
                <a16:creationId xmlns:a16="http://schemas.microsoft.com/office/drawing/2014/main" id="{E901BE6E-4B1B-439A-58B8-7F327097C11D}"/>
              </a:ext>
            </a:extLst>
          </p:cNvPr>
          <p:cNvSpPr txBox="1"/>
          <p:nvPr/>
        </p:nvSpPr>
        <p:spPr>
          <a:xfrm>
            <a:off x="14379355" y="4203974"/>
            <a:ext cx="2622671" cy="2400657"/>
          </a:xfrm>
          <a:prstGeom prst="rect">
            <a:avLst/>
          </a:prstGeom>
          <a:noFill/>
          <a:ln w="76200">
            <a:solidFill>
              <a:schemeClr val="tx2">
                <a:lumMod val="60000"/>
                <a:lumOff val="40000"/>
              </a:schemeClr>
            </a:solidFill>
          </a:ln>
        </p:spPr>
        <p:txBody>
          <a:bodyPr wrap="square" rtlCol="0">
            <a:spAutoFit/>
          </a:bodyPr>
          <a:lstStyle/>
          <a:p>
            <a:r>
              <a:rPr lang="en-US" sz="15000" b="1" dirty="0"/>
              <a:t>💪🏻</a:t>
            </a:r>
            <a:endParaRPr lang="en-IN" sz="15000" b="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847700" y="6604631"/>
            <a:ext cx="1695400" cy="2653669"/>
          </a:xfrm>
          <a:custGeom>
            <a:avLst/>
            <a:gdLst/>
            <a:ahLst/>
            <a:cxnLst/>
            <a:rect l="l" t="t" r="r" b="b"/>
            <a:pathLst>
              <a:path w="1695400" h="2653669">
                <a:moveTo>
                  <a:pt x="0" y="0"/>
                </a:moveTo>
                <a:lnTo>
                  <a:pt x="1695400" y="0"/>
                </a:lnTo>
                <a:lnTo>
                  <a:pt x="1695400" y="2653669"/>
                </a:lnTo>
                <a:lnTo>
                  <a:pt x="0" y="265366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2106618" y="3488336"/>
            <a:ext cx="6959186" cy="7278915"/>
          </a:xfrm>
          <a:custGeom>
            <a:avLst/>
            <a:gdLst/>
            <a:ahLst/>
            <a:cxnLst/>
            <a:rect l="l" t="t" r="r" b="b"/>
            <a:pathLst>
              <a:path w="6959186" h="7278915">
                <a:moveTo>
                  <a:pt x="0" y="0"/>
                </a:moveTo>
                <a:lnTo>
                  <a:pt x="6959186" y="0"/>
                </a:lnTo>
                <a:lnTo>
                  <a:pt x="6959186" y="7278914"/>
                </a:lnTo>
                <a:lnTo>
                  <a:pt x="0" y="727891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flipH="1" flipV="1">
            <a:off x="-31963" y="-589665"/>
            <a:ext cx="7321151" cy="7657510"/>
          </a:xfrm>
          <a:custGeom>
            <a:avLst/>
            <a:gdLst/>
            <a:ahLst/>
            <a:cxnLst/>
            <a:rect l="l" t="t" r="r" b="b"/>
            <a:pathLst>
              <a:path w="7321151" h="7657510">
                <a:moveTo>
                  <a:pt x="7321151" y="7657510"/>
                </a:moveTo>
                <a:lnTo>
                  <a:pt x="0" y="7657510"/>
                </a:lnTo>
                <a:lnTo>
                  <a:pt x="0" y="0"/>
                </a:lnTo>
                <a:lnTo>
                  <a:pt x="7321151" y="0"/>
                </a:lnTo>
                <a:lnTo>
                  <a:pt x="7321151" y="7657510"/>
                </a:lnTo>
                <a:close/>
              </a:path>
            </a:pathLst>
          </a:custGeom>
          <a:blipFill>
            <a:blip r:embed="rId4">
              <a:alphaModFix amt="18999"/>
              <a:extLst>
                <a:ext uri="{96DAC541-7B7A-43D3-8B79-37D633B846F1}">
                  <asvg:svgBlip xmlns:asvg="http://schemas.microsoft.com/office/drawing/2016/SVG/main" r:embed="rId5"/>
                </a:ext>
              </a:extLst>
            </a:blip>
            <a:stretch>
              <a:fillRect/>
            </a:stretch>
          </a:blipFill>
        </p:spPr>
      </p:sp>
      <p:sp>
        <p:nvSpPr>
          <p:cNvPr id="5" name="Freeform 5"/>
          <p:cNvSpPr/>
          <p:nvPr/>
        </p:nvSpPr>
        <p:spPr>
          <a:xfrm>
            <a:off x="13563600" y="3086100"/>
            <a:ext cx="4492170" cy="5791200"/>
          </a:xfrm>
          <a:custGeom>
            <a:avLst/>
            <a:gdLst/>
            <a:ahLst/>
            <a:cxnLst/>
            <a:rect l="l" t="t" r="r" b="b"/>
            <a:pathLst>
              <a:path w="7018196" h="7018196">
                <a:moveTo>
                  <a:pt x="0" y="0"/>
                </a:moveTo>
                <a:lnTo>
                  <a:pt x="7018196" y="0"/>
                </a:lnTo>
                <a:lnTo>
                  <a:pt x="7018196" y="7018196"/>
                </a:lnTo>
                <a:lnTo>
                  <a:pt x="0" y="7018196"/>
                </a:lnTo>
                <a:lnTo>
                  <a:pt x="0" y="0"/>
                </a:lnTo>
                <a:close/>
              </a:path>
            </a:pathLst>
          </a:custGeom>
          <a:blipFill>
            <a:blip r:embed="rId6">
              <a:alphaModFix amt="16000"/>
              <a:extLst>
                <a:ext uri="{96DAC541-7B7A-43D3-8B79-37D633B846F1}">
                  <asvg:svgBlip xmlns:asvg="http://schemas.microsoft.com/office/drawing/2016/SVG/main" r:embed="rId7"/>
                </a:ext>
              </a:extLst>
            </a:blip>
            <a:stretch>
              <a:fillRect/>
            </a:stretch>
          </a:blipFill>
        </p:spPr>
      </p:sp>
      <p:grpSp>
        <p:nvGrpSpPr>
          <p:cNvPr id="6" name="Group 6"/>
          <p:cNvGrpSpPr/>
          <p:nvPr/>
        </p:nvGrpSpPr>
        <p:grpSpPr>
          <a:xfrm>
            <a:off x="1384251" y="629285"/>
            <a:ext cx="5061090" cy="1250653"/>
            <a:chOff x="0" y="0"/>
            <a:chExt cx="6748120" cy="1667538"/>
          </a:xfrm>
        </p:grpSpPr>
        <p:grpSp>
          <p:nvGrpSpPr>
            <p:cNvPr id="7" name="Group 7"/>
            <p:cNvGrpSpPr/>
            <p:nvPr/>
          </p:nvGrpSpPr>
          <p:grpSpPr>
            <a:xfrm>
              <a:off x="0" y="0"/>
              <a:ext cx="6748120" cy="1667538"/>
              <a:chOff x="0" y="0"/>
              <a:chExt cx="1332962" cy="329390"/>
            </a:xfrm>
          </p:grpSpPr>
          <p:sp>
            <p:nvSpPr>
              <p:cNvPr id="8" name="Freeform 8"/>
              <p:cNvSpPr/>
              <p:nvPr/>
            </p:nvSpPr>
            <p:spPr>
              <a:xfrm>
                <a:off x="0" y="0"/>
                <a:ext cx="1332962" cy="329390"/>
              </a:xfrm>
              <a:custGeom>
                <a:avLst/>
                <a:gdLst/>
                <a:ahLst/>
                <a:cxnLst/>
                <a:rect l="l" t="t" r="r" b="b"/>
                <a:pathLst>
                  <a:path w="1332962" h="329390">
                    <a:moveTo>
                      <a:pt x="0" y="0"/>
                    </a:moveTo>
                    <a:lnTo>
                      <a:pt x="1332962" y="0"/>
                    </a:lnTo>
                    <a:lnTo>
                      <a:pt x="1332962" y="329390"/>
                    </a:lnTo>
                    <a:lnTo>
                      <a:pt x="0" y="329390"/>
                    </a:lnTo>
                    <a:close/>
                  </a:path>
                </a:pathLst>
              </a:custGeom>
              <a:solidFill>
                <a:srgbClr val="FFFFFF"/>
              </a:solidFill>
              <a:ln w="47625" cap="sq">
                <a:solidFill>
                  <a:srgbClr val="6366F1"/>
                </a:solidFill>
                <a:prstDash val="solid"/>
                <a:miter/>
              </a:ln>
            </p:spPr>
          </p:sp>
          <p:sp>
            <p:nvSpPr>
              <p:cNvPr id="9" name="TextBox 9"/>
              <p:cNvSpPr txBox="1"/>
              <p:nvPr/>
            </p:nvSpPr>
            <p:spPr>
              <a:xfrm>
                <a:off x="0" y="-66675"/>
                <a:ext cx="1332962" cy="396065"/>
              </a:xfrm>
              <a:prstGeom prst="rect">
                <a:avLst/>
              </a:prstGeom>
            </p:spPr>
            <p:txBody>
              <a:bodyPr lIns="50800" tIns="50800" rIns="50800" bIns="50800" rtlCol="0" anchor="ctr"/>
              <a:lstStyle/>
              <a:p>
                <a:pPr algn="ctr">
                  <a:lnSpc>
                    <a:spcPts val="3018"/>
                  </a:lnSpc>
                </a:pPr>
                <a:endParaRPr/>
              </a:p>
            </p:txBody>
          </p:sp>
        </p:grpSp>
        <p:sp>
          <p:nvSpPr>
            <p:cNvPr id="10" name="TextBox 10"/>
            <p:cNvSpPr txBox="1"/>
            <p:nvPr/>
          </p:nvSpPr>
          <p:spPr>
            <a:xfrm>
              <a:off x="411091" y="78724"/>
              <a:ext cx="5925938" cy="1348166"/>
            </a:xfrm>
            <a:prstGeom prst="rect">
              <a:avLst/>
            </a:prstGeom>
          </p:spPr>
          <p:txBody>
            <a:bodyPr lIns="0" tIns="0" rIns="0" bIns="0" rtlCol="0" anchor="t">
              <a:spAutoFit/>
            </a:bodyPr>
            <a:lstStyle/>
            <a:p>
              <a:pPr algn="ctr">
                <a:lnSpc>
                  <a:spcPts val="8187"/>
                </a:lnSpc>
              </a:pPr>
              <a:endParaRPr/>
            </a:p>
          </p:txBody>
        </p:sp>
      </p:grpSp>
      <p:sp>
        <p:nvSpPr>
          <p:cNvPr id="11" name="TextBox 11"/>
          <p:cNvSpPr txBox="1"/>
          <p:nvPr/>
        </p:nvSpPr>
        <p:spPr>
          <a:xfrm>
            <a:off x="-3429000" y="740545"/>
            <a:ext cx="14818543" cy="903605"/>
          </a:xfrm>
          <a:prstGeom prst="rect">
            <a:avLst/>
          </a:prstGeom>
        </p:spPr>
        <p:txBody>
          <a:bodyPr lIns="0" tIns="0" rIns="0" bIns="0" rtlCol="0" anchor="t">
            <a:spAutoFit/>
          </a:bodyPr>
          <a:lstStyle/>
          <a:p>
            <a:pPr algn="ctr">
              <a:lnSpc>
                <a:spcPts val="7420"/>
              </a:lnSpc>
            </a:pPr>
            <a:r>
              <a:rPr lang="en-US" sz="5300" b="1">
                <a:solidFill>
                  <a:srgbClr val="1800AD"/>
                </a:solidFill>
                <a:latin typeface="Canva Sans Bold"/>
                <a:ea typeface="Canva Sans Bold"/>
                <a:cs typeface="Canva Sans Bold"/>
                <a:sym typeface="Canva Sans Bold"/>
              </a:rPr>
              <a:t>Future Scope</a:t>
            </a:r>
          </a:p>
        </p:txBody>
      </p:sp>
      <p:grpSp>
        <p:nvGrpSpPr>
          <p:cNvPr id="12" name="Group 12"/>
          <p:cNvGrpSpPr/>
          <p:nvPr/>
        </p:nvGrpSpPr>
        <p:grpSpPr>
          <a:xfrm>
            <a:off x="16032893" y="192359"/>
            <a:ext cx="2022877" cy="1842770"/>
            <a:chOff x="0" y="0"/>
            <a:chExt cx="2697170" cy="2457027"/>
          </a:xfrm>
        </p:grpSpPr>
        <p:sp>
          <p:nvSpPr>
            <p:cNvPr id="13" name="Freeform 13"/>
            <p:cNvSpPr/>
            <p:nvPr/>
          </p:nvSpPr>
          <p:spPr>
            <a:xfrm>
              <a:off x="0" y="0"/>
              <a:ext cx="2532253" cy="2457027"/>
            </a:xfrm>
            <a:custGeom>
              <a:avLst/>
              <a:gdLst/>
              <a:ahLst/>
              <a:cxnLst/>
              <a:rect l="l" t="t" r="r" b="b"/>
              <a:pathLst>
                <a:path w="2532253" h="2457027">
                  <a:moveTo>
                    <a:pt x="0" y="0"/>
                  </a:moveTo>
                  <a:lnTo>
                    <a:pt x="2532253" y="0"/>
                  </a:lnTo>
                  <a:lnTo>
                    <a:pt x="2532253" y="2457027"/>
                  </a:lnTo>
                  <a:lnTo>
                    <a:pt x="0" y="2457027"/>
                  </a:lnTo>
                  <a:lnTo>
                    <a:pt x="0" y="0"/>
                  </a:lnTo>
                  <a:close/>
                </a:path>
              </a:pathLst>
            </a:custGeom>
            <a:blipFill>
              <a:blip r:embed="rId8"/>
              <a:stretch>
                <a:fillRect l="-13951" t="-15546" r="-21358"/>
              </a:stretch>
            </a:blipFill>
          </p:spPr>
        </p:sp>
        <p:sp>
          <p:nvSpPr>
            <p:cNvPr id="14" name="TextBox 14"/>
            <p:cNvSpPr txBox="1"/>
            <p:nvPr/>
          </p:nvSpPr>
          <p:spPr>
            <a:xfrm>
              <a:off x="0" y="1862534"/>
              <a:ext cx="2697170" cy="594493"/>
            </a:xfrm>
            <a:prstGeom prst="rect">
              <a:avLst/>
            </a:prstGeom>
          </p:spPr>
          <p:txBody>
            <a:bodyPr lIns="0" tIns="0" rIns="0" bIns="0" rtlCol="0" anchor="t">
              <a:spAutoFit/>
            </a:bodyPr>
            <a:lstStyle/>
            <a:p>
              <a:pPr algn="ctr">
                <a:lnSpc>
                  <a:spcPts val="3588"/>
                </a:lnSpc>
              </a:pPr>
              <a:endParaRPr/>
            </a:p>
          </p:txBody>
        </p:sp>
      </p:grpSp>
      <p:sp>
        <p:nvSpPr>
          <p:cNvPr id="15" name="Freeform 11">
            <a:extLst>
              <a:ext uri="{FF2B5EF4-FFF2-40B4-BE49-F238E27FC236}">
                <a16:creationId xmlns:a16="http://schemas.microsoft.com/office/drawing/2014/main" id="{B025498E-6361-F409-D36A-40FF18555C27}"/>
              </a:ext>
            </a:extLst>
          </p:cNvPr>
          <p:cNvSpPr/>
          <p:nvPr/>
        </p:nvSpPr>
        <p:spPr>
          <a:xfrm>
            <a:off x="1028700" y="2705100"/>
            <a:ext cx="12153900" cy="7478575"/>
          </a:xfrm>
          <a:custGeom>
            <a:avLst/>
            <a:gdLst/>
            <a:ahLst/>
            <a:cxnLst/>
            <a:rect l="l" t="t" r="r" b="b"/>
            <a:pathLst>
              <a:path w="1886503" h="341771">
                <a:moveTo>
                  <a:pt x="0" y="0"/>
                </a:moveTo>
                <a:lnTo>
                  <a:pt x="1886503" y="0"/>
                </a:lnTo>
                <a:lnTo>
                  <a:pt x="1886503" y="341771"/>
                </a:lnTo>
                <a:lnTo>
                  <a:pt x="0" y="341771"/>
                </a:lnTo>
                <a:close/>
              </a:path>
            </a:pathLst>
          </a:custGeom>
          <a:solidFill>
            <a:srgbClr val="FFFFFF"/>
          </a:solidFill>
          <a:ln w="47625" cap="sq">
            <a:solidFill>
              <a:srgbClr val="6366F1"/>
            </a:solidFill>
            <a:prstDash val="solid"/>
            <a:miter/>
          </a:ln>
        </p:spPr>
        <p:txBody>
          <a:bodyPr/>
          <a:lstStyle/>
          <a:p>
            <a:r>
              <a:rPr lang="en-IN" sz="4000" b="1" dirty="0"/>
              <a:t>Future Scope</a:t>
            </a:r>
            <a:endParaRPr lang="en-IN" sz="4000" dirty="0"/>
          </a:p>
          <a:p>
            <a:r>
              <a:rPr lang="en-IN" sz="4000" dirty="0"/>
              <a:t>Tasker is designed to grow beyond a simple task manager into a complete productivity ecosystem.</a:t>
            </a:r>
          </a:p>
          <a:p>
            <a:r>
              <a:rPr lang="en-IN" sz="4000" b="1" dirty="0"/>
              <a:t>Planned Enhancements</a:t>
            </a:r>
            <a:endParaRPr lang="en-IN" sz="4000" dirty="0"/>
          </a:p>
          <a:p>
            <a:pPr marL="571500" indent="-571500">
              <a:buFont typeface="Arial" panose="020B0604020202020204" pitchFamily="34" charset="0"/>
              <a:buChar char="•"/>
            </a:pPr>
            <a:r>
              <a:rPr lang="en-IN" sz="4000" dirty="0"/>
              <a:t>AI-based task planning and prioritization</a:t>
            </a:r>
          </a:p>
          <a:p>
            <a:pPr marL="571500" indent="-571500">
              <a:buFont typeface="Arial" panose="020B0604020202020204" pitchFamily="34" charset="0"/>
              <a:buChar char="•"/>
            </a:pPr>
            <a:r>
              <a:rPr lang="en-IN" sz="4000" dirty="0"/>
              <a:t>Voice input and smart assistants</a:t>
            </a:r>
          </a:p>
          <a:p>
            <a:pPr marL="571500" indent="-571500">
              <a:buFont typeface="Arial" panose="020B0604020202020204" pitchFamily="34" charset="0"/>
              <a:buChar char="•"/>
            </a:pPr>
            <a:r>
              <a:rPr lang="en-IN" sz="4000" dirty="0"/>
              <a:t>Advanced analytics and performance insights</a:t>
            </a:r>
          </a:p>
          <a:p>
            <a:r>
              <a:rPr lang="en-IN" sz="4000" b="1" dirty="0"/>
              <a:t>Vision</a:t>
            </a:r>
            <a:endParaRPr lang="en-IN" sz="4000" dirty="0"/>
          </a:p>
          <a:p>
            <a:pPr marL="571500" indent="-571500">
              <a:buFont typeface="Arial" panose="020B0604020202020204" pitchFamily="34" charset="0"/>
              <a:buChar char="•"/>
            </a:pPr>
            <a:r>
              <a:rPr lang="en-IN" sz="4000" dirty="0"/>
              <a:t>Help students, teams, and organizations work efficiently</a:t>
            </a:r>
          </a:p>
          <a:p>
            <a:pPr marL="571500" indent="-571500">
              <a:buFont typeface="Arial" panose="020B0604020202020204" pitchFamily="34" charset="0"/>
              <a:buChar char="•"/>
            </a:pPr>
            <a:r>
              <a:rPr lang="en-IN" sz="4000" dirty="0"/>
              <a:t>Make Tasker a trusted, intelligent productivity platform</a:t>
            </a:r>
          </a:p>
          <a:p>
            <a:endParaRPr lang="en-IN" dirty="0"/>
          </a:p>
        </p:txBody>
      </p:sp>
      <p:sp>
        <p:nvSpPr>
          <p:cNvPr id="18" name="TextBox 17">
            <a:extLst>
              <a:ext uri="{FF2B5EF4-FFF2-40B4-BE49-F238E27FC236}">
                <a16:creationId xmlns:a16="http://schemas.microsoft.com/office/drawing/2014/main" id="{FED7FE21-6798-518E-7007-0B9D6133B11E}"/>
              </a:ext>
            </a:extLst>
          </p:cNvPr>
          <p:cNvSpPr txBox="1"/>
          <p:nvPr/>
        </p:nvSpPr>
        <p:spPr>
          <a:xfrm>
            <a:off x="10173298" y="103325"/>
            <a:ext cx="3518480" cy="2400657"/>
          </a:xfrm>
          <a:prstGeom prst="rect">
            <a:avLst/>
          </a:prstGeom>
          <a:noFill/>
        </p:spPr>
        <p:txBody>
          <a:bodyPr wrap="square" rtlCol="0">
            <a:spAutoFit/>
          </a:bodyPr>
          <a:lstStyle/>
          <a:p>
            <a:r>
              <a:rPr lang="en-US" sz="15000" dirty="0"/>
              <a:t>🚀</a:t>
            </a:r>
            <a:endParaRPr lang="en-IN" sz="15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TotalTime>
  <Words>431</Words>
  <Application>Microsoft Office PowerPoint</Application>
  <PresentationFormat>Custom</PresentationFormat>
  <Paragraphs>78</Paragraphs>
  <Slides>7</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7</vt:i4>
      </vt:variant>
    </vt:vector>
  </HeadingPairs>
  <TitlesOfParts>
    <vt:vector size="17" baseType="lpstr">
      <vt:lpstr>Playfair Display Bold</vt:lpstr>
      <vt:lpstr>Poppins</vt:lpstr>
      <vt:lpstr>Inter Bold</vt:lpstr>
      <vt:lpstr>Poppins Bold</vt:lpstr>
      <vt:lpstr>Canva Sans Bold</vt:lpstr>
      <vt:lpstr>Calibri</vt:lpstr>
      <vt:lpstr>Arial</vt:lpstr>
      <vt:lpstr>Anton</vt:lpstr>
      <vt:lpstr>Inter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Copy of HACKATHON</dc:title>
  <cp:lastModifiedBy>Dhanashree Mane</cp:lastModifiedBy>
  <cp:revision>2</cp:revision>
  <dcterms:created xsi:type="dcterms:W3CDTF">2006-08-16T00:00:00Z</dcterms:created>
  <dcterms:modified xsi:type="dcterms:W3CDTF">2026-01-21T16:49:32Z</dcterms:modified>
  <dc:identifier>DAG7kUd9_6g</dc:identifier>
</cp:coreProperties>
</file>